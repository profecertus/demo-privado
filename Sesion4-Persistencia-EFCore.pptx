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4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61" r:id="rId12"/>
    <p:sldId id="262" r:id="rId13"/>
    <p:sldId id="263" r:id="rId14"/>
  </p:sldIdLst>
  <p:sldSz cx="18288000" cy="10287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6" d="100"/>
          <a:sy n="16" d="100"/>
        </p:scale>
        <p:origin x="858" y="25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029517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21857553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E7084CA-3DB8-45DC-8AD8-9E56A343B3BC}" type="datetimeFigureOut">
              <a:rPr lang="es-ES"/>
              <a:t>26/02/2026</a:t>
            </a:fld>
            <a:endParaRPr lang="es-ES"/>
          </a:p>
        </p:txBody>
      </p:sp>
      <p:sp>
        <p:nvSpPr>
          <p:cNvPr id="1831933791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002091996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2138952940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42493995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E047963-003F-451B-AA32-8837B58ED770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062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701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94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A6C018-A453-C2A7-E90A-6D73B4BE2E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591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913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01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C2BFE4-113C-16A9-46BC-5219253630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95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437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54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48E95A-3D9C-DB7C-67BA-937240A4F1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173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09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96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B69992-1612-E231-2E50-CEF3DB79C3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11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607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827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7882C-EA35-FF54-8897-ECD08444CE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121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674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97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B30468-729D-BD5A-C039-A7053A464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087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510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99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B365B0-6DCD-3023-AAFC-26DA05F283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994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858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92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8BE6F0-4DF0-1A39-737F-5436869D53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86292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8707661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831979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257962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7706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0027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217940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612896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21145325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230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46823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52953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1775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8727561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26644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48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88342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190731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271926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721051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25855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4890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70307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051175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32152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26252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08600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9369232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832584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499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815489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7895974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53474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267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8635832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62574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82798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9547715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40838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71971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119532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89708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13157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3509114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256470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05741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449257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7091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0444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1605168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13305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605029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78451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1875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833064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226916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8660507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21553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5410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93826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7356014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108341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483807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382230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895975050" name="Group 3"/>
          <p:cNvGrpSpPr/>
          <p:nvPr/>
        </p:nvGrpSpPr>
        <p:grpSpPr bwMode="auto">
          <a:xfrm>
            <a:off x="10465866" y="-108420"/>
            <a:ext cx="7992925" cy="105038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4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272809880" name="Group 5"/>
          <p:cNvGrpSpPr/>
          <p:nvPr/>
        </p:nvGrpSpPr>
        <p:grpSpPr bwMode="auto">
          <a:xfrm>
            <a:off x="193204" y="136418"/>
            <a:ext cx="4566505" cy="1536415"/>
            <a:chOff x="0" y="0"/>
            <a:chExt cx="4944796" cy="1483439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1012875942" name="Freeform 8"/>
          <p:cNvSpPr/>
          <p:nvPr/>
        </p:nvSpPr>
        <p:spPr bwMode="auto">
          <a:xfrm>
            <a:off x="13837876" y="6183764"/>
            <a:ext cx="1099807" cy="324062"/>
          </a:xfrm>
          <a:custGeom>
            <a:avLst/>
            <a:gdLst/>
            <a:ahLst/>
            <a:cxnLst/>
            <a:rect l="l" t="t" r="r" b="b"/>
            <a:pathLst>
              <a:path w="1099807" h="324062" fill="norm" stroke="1" extrusionOk="0">
                <a:moveTo>
                  <a:pt x="0" y="0"/>
                </a:moveTo>
                <a:lnTo>
                  <a:pt x="1099807" y="0"/>
                </a:lnTo>
                <a:lnTo>
                  <a:pt x="1099807" y="324062"/>
                </a:lnTo>
                <a:lnTo>
                  <a:pt x="0" y="324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-14632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1288211233" name="Freeform 9"/>
          <p:cNvSpPr/>
          <p:nvPr/>
        </p:nvSpPr>
        <p:spPr bwMode="auto">
          <a:xfrm>
            <a:off x="13765201" y="7561751"/>
            <a:ext cx="970596" cy="340395"/>
          </a:xfrm>
          <a:custGeom>
            <a:avLst/>
            <a:gdLst/>
            <a:ahLst/>
            <a:cxnLst/>
            <a:rect l="l" t="t" r="r" b="b"/>
            <a:pathLst>
              <a:path w="970596" h="340395" fill="norm" stroke="1" extrusionOk="0">
                <a:moveTo>
                  <a:pt x="0" y="0"/>
                </a:moveTo>
                <a:lnTo>
                  <a:pt x="970596" y="0"/>
                </a:lnTo>
                <a:lnTo>
                  <a:pt x="970596" y="340395"/>
                </a:lnTo>
                <a:lnTo>
                  <a:pt x="0" y="3403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-18734" t="-62458" r="-18444" b="-57704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609775544" name="Freeform 10"/>
          <p:cNvSpPr/>
          <p:nvPr/>
        </p:nvSpPr>
        <p:spPr bwMode="auto">
          <a:xfrm>
            <a:off x="14906722" y="7205876"/>
            <a:ext cx="374698" cy="441513"/>
          </a:xfrm>
          <a:custGeom>
            <a:avLst/>
            <a:gdLst/>
            <a:ahLst/>
            <a:cxnLst/>
            <a:rect l="l" t="t" r="r" b="b"/>
            <a:pathLst>
              <a:path w="374698" h="441513" fill="norm" stroke="1" extrusionOk="0">
                <a:moveTo>
                  <a:pt x="0" y="0"/>
                </a:moveTo>
                <a:lnTo>
                  <a:pt x="374698" y="0"/>
                </a:lnTo>
                <a:lnTo>
                  <a:pt x="374698" y="441514"/>
                </a:lnTo>
                <a:lnTo>
                  <a:pt x="0" y="441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-34454" t="0" r="-2875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62777268" name="Freeform 11"/>
          <p:cNvSpPr/>
          <p:nvPr/>
        </p:nvSpPr>
        <p:spPr bwMode="auto">
          <a:xfrm>
            <a:off x="14908451" y="6686170"/>
            <a:ext cx="830612" cy="278574"/>
          </a:xfrm>
          <a:custGeom>
            <a:avLst/>
            <a:gdLst/>
            <a:ahLst/>
            <a:cxnLst/>
            <a:rect l="l" t="t" r="r" b="b"/>
            <a:pathLst>
              <a:path w="830612" h="278574" fill="norm" stroke="1" extrusionOk="0">
                <a:moveTo>
                  <a:pt x="0" y="0"/>
                </a:moveTo>
                <a:lnTo>
                  <a:pt x="830611" y="0"/>
                </a:lnTo>
                <a:lnTo>
                  <a:pt x="830611" y="278574"/>
                </a:lnTo>
                <a:lnTo>
                  <a:pt x="0" y="278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2038686430" name="Freeform 12"/>
          <p:cNvSpPr/>
          <p:nvPr/>
        </p:nvSpPr>
        <p:spPr bwMode="auto">
          <a:xfrm>
            <a:off x="13185597" y="6686170"/>
            <a:ext cx="776761" cy="526831"/>
          </a:xfrm>
          <a:custGeom>
            <a:avLst/>
            <a:gdLst/>
            <a:ahLst/>
            <a:cxnLst/>
            <a:rect l="l" t="t" r="r" b="b"/>
            <a:pathLst>
              <a:path w="776761" h="526831" fill="norm" stroke="1" extrusionOk="0">
                <a:moveTo>
                  <a:pt x="0" y="0"/>
                </a:moveTo>
                <a:lnTo>
                  <a:pt x="776761" y="0"/>
                </a:lnTo>
                <a:lnTo>
                  <a:pt x="776761" y="526830"/>
                </a:lnTo>
                <a:lnTo>
                  <a:pt x="0" y="526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880406290" name="Freeform 13"/>
          <p:cNvSpPr/>
          <p:nvPr/>
        </p:nvSpPr>
        <p:spPr bwMode="auto">
          <a:xfrm>
            <a:off x="14000458" y="6596608"/>
            <a:ext cx="869893" cy="869893"/>
          </a:xfrm>
          <a:custGeom>
            <a:avLst/>
            <a:gdLst/>
            <a:ahLst/>
            <a:cxnLst/>
            <a:rect l="l" t="t" r="r" b="b"/>
            <a:pathLst>
              <a:path w="869893" h="869893" fill="norm" stroke="1" extrusionOk="0">
                <a:moveTo>
                  <a:pt x="0" y="0"/>
                </a:moveTo>
                <a:lnTo>
                  <a:pt x="869893" y="0"/>
                </a:lnTo>
                <a:lnTo>
                  <a:pt x="869893" y="869893"/>
                </a:lnTo>
                <a:lnTo>
                  <a:pt x="0" y="869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387793302" name="Group 14"/>
          <p:cNvGrpSpPr/>
          <p:nvPr/>
        </p:nvGrpSpPr>
        <p:grpSpPr bwMode="auto">
          <a:xfrm>
            <a:off x="7620000" y="-220352"/>
            <a:ext cx="21126247" cy="11078852"/>
            <a:chOff x="0" y="-137758"/>
            <a:chExt cx="7437183" cy="3900146"/>
          </a:xfrm>
        </p:grpSpPr>
        <p:sp>
          <p:nvSpPr>
            <p:cNvPr id="15" name="Freeform 15"/>
            <p:cNvSpPr/>
            <p:nvPr/>
          </p:nvSpPr>
          <p:spPr bwMode="auto">
            <a:xfrm>
              <a:off x="999163" y="-137758"/>
              <a:ext cx="6438020" cy="3900146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grpSp>
        <p:nvGrpSpPr>
          <p:cNvPr id="20604944" name="Group 17"/>
          <p:cNvGrpSpPr>
            <a:grpSpLocks noChangeAspect="1"/>
          </p:cNvGrpSpPr>
          <p:nvPr/>
        </p:nvGrpSpPr>
        <p:grpSpPr bwMode="auto">
          <a:xfrm rot="-5400000">
            <a:off x="9373087" y="1023039"/>
            <a:ext cx="2185559" cy="736237"/>
            <a:chOff x="0" y="0"/>
            <a:chExt cx="1231938" cy="414998"/>
          </a:xfrm>
        </p:grpSpPr>
        <p:sp>
          <p:nvSpPr>
            <p:cNvPr id="18" name="Freeform 18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16144456" name="TextBox 21"/>
          <p:cNvSpPr txBox="1"/>
          <p:nvPr/>
        </p:nvSpPr>
        <p:spPr bwMode="auto">
          <a:xfrm>
            <a:off x="1028700" y="4977357"/>
            <a:ext cx="8579699" cy="160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8"/>
              </a:lnSpc>
              <a:defRPr/>
            </a:pPr>
            <a:r>
              <a:rPr lang="es-ES" sz="36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Desarrollo Full Stack con C# y Angular</a:t>
            </a:r>
            <a:endParaRPr/>
          </a:p>
        </p:txBody>
      </p:sp>
      <p:sp>
        <p:nvSpPr>
          <p:cNvPr id="1041271674" name="TextBox 22"/>
          <p:cNvSpPr txBox="1"/>
          <p:nvPr/>
        </p:nvSpPr>
        <p:spPr bwMode="auto">
          <a:xfrm>
            <a:off x="1047750" y="4132744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5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Curso</a:t>
            </a:r>
            <a:endParaRPr/>
          </a:p>
        </p:txBody>
      </p:sp>
      <p:sp>
        <p:nvSpPr>
          <p:cNvPr id="730032275" name="CuadroTexto 22"/>
          <p:cNvSpPr txBox="1"/>
          <p:nvPr/>
        </p:nvSpPr>
        <p:spPr bwMode="auto">
          <a:xfrm>
            <a:off x="1010832" y="6530499"/>
            <a:ext cx="8762874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PE" sz="3200">
                <a:solidFill>
                  <a:srgbClr val="EE6D14"/>
                </a:solidFill>
              </a:rPr>
              <a:t>Docente:  </a:t>
            </a:r>
            <a:r>
              <a:rPr lang="es-ES" sz="3200">
                <a:solidFill>
                  <a:srgbClr val="EE6D14"/>
                </a:solidFill>
              </a:rPr>
              <a:t>Edwin Barrientos</a:t>
            </a:r>
            <a:endParaRPr/>
          </a:p>
        </p:txBody>
      </p:sp>
      <p:cxnSp>
        <p:nvCxnSpPr>
          <p:cNvPr id="500389679" name="Conector recto 24"/>
          <p:cNvCxnSpPr/>
          <p:nvPr/>
        </p:nvCxnSpPr>
        <p:spPr bwMode="auto">
          <a:xfrm>
            <a:off x="1047750" y="6610183"/>
            <a:ext cx="80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90074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940281398" name="Group 3"/>
          <p:cNvGrpSpPr/>
          <p:nvPr/>
        </p:nvGrpSpPr>
        <p:grpSpPr bwMode="auto">
          <a:xfrm>
            <a:off x="-187438" y="4377398"/>
            <a:ext cx="18662876" cy="6009477"/>
            <a:chOff x="0" y="0"/>
            <a:chExt cx="2891368" cy="931025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2891368" cy="931025"/>
            </a:xfrm>
            <a:custGeom>
              <a:avLst/>
              <a:gdLst/>
              <a:ahLst/>
              <a:cxnLst/>
              <a:rect l="l" t="t" r="r" b="b"/>
              <a:pathLst>
                <a:path w="2891368" h="931025" fill="norm" stroke="1" extrusionOk="0">
                  <a:moveTo>
                    <a:pt x="0" y="0"/>
                  </a:moveTo>
                  <a:lnTo>
                    <a:pt x="2891368" y="0"/>
                  </a:lnTo>
                  <a:lnTo>
                    <a:pt x="2891368" y="931025"/>
                  </a:lnTo>
                  <a:lnTo>
                    <a:pt x="0" y="931025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4535" r="0" b="-49941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288659993" name="TextBox 8"/>
          <p:cNvSpPr txBox="1"/>
          <p:nvPr/>
        </p:nvSpPr>
        <p:spPr bwMode="auto">
          <a:xfrm>
            <a:off x="1109269" y="1419709"/>
            <a:ext cx="16587931" cy="160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8"/>
              </a:lnSpc>
              <a:defRPr/>
            </a:pPr>
            <a:r>
              <a:rPr lang="es-ES" sz="48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Persistencia con Entity Framework Core</a:t>
            </a:r>
            <a:endParaRPr/>
          </a:p>
        </p:txBody>
      </p:sp>
      <p:grpSp>
        <p:nvGrpSpPr>
          <p:cNvPr id="894212724" name="Group 9"/>
          <p:cNvGrpSpPr/>
          <p:nvPr/>
        </p:nvGrpSpPr>
        <p:grpSpPr bwMode="auto">
          <a:xfrm>
            <a:off x="0" y="4377398"/>
            <a:ext cx="18288000" cy="8144679"/>
            <a:chOff x="0" y="0"/>
            <a:chExt cx="6438020" cy="2867214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6438020" cy="2867214"/>
            </a:xfrm>
            <a:custGeom>
              <a:avLst/>
              <a:gdLst/>
              <a:ahLst/>
              <a:cxnLst/>
              <a:rect l="l" t="t" r="r" b="b"/>
              <a:pathLst>
                <a:path w="6438020" h="286721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2867214"/>
                  </a:lnTo>
                  <a:lnTo>
                    <a:pt x="0" y="286721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7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66675"/>
              <a:ext cx="6438020" cy="293388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grpSp>
        <p:nvGrpSpPr>
          <p:cNvPr id="1184583054" name="Group 12"/>
          <p:cNvGrpSpPr>
            <a:grpSpLocks noChangeAspect="1"/>
          </p:cNvGrpSpPr>
          <p:nvPr/>
        </p:nvGrpSpPr>
        <p:grpSpPr bwMode="auto">
          <a:xfrm>
            <a:off x="1028700" y="4009279"/>
            <a:ext cx="2185559" cy="736237"/>
            <a:chOff x="0" y="0"/>
            <a:chExt cx="1231938" cy="414998"/>
          </a:xfrm>
        </p:grpSpPr>
        <p:sp>
          <p:nvSpPr>
            <p:cNvPr id="13" name="Freeform 13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598291645" name="TextBox 16"/>
          <p:cNvSpPr txBox="1"/>
          <p:nvPr/>
        </p:nvSpPr>
        <p:spPr bwMode="auto">
          <a:xfrm>
            <a:off x="1192558" y="807558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000" b="1">
                <a:solidFill>
                  <a:srgbClr val="F57D30"/>
                </a:solidFill>
                <a:latin typeface="Poppins Bold"/>
                <a:ea typeface="Poppins Bold"/>
                <a:cs typeface="Poppins Bold"/>
              </a:rPr>
              <a:t>Sesión 4 — Módulo 2:</a:t>
            </a:r>
            <a:endParaRPr/>
          </a:p>
        </p:txBody>
      </p:sp>
      <p:grpSp>
        <p:nvGrpSpPr>
          <p:cNvPr id="1813962660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8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9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839590268" name="Rectángulo 4"/>
          <p:cNvSpPr/>
          <p:nvPr/>
        </p:nvSpPr>
        <p:spPr bwMode="auto">
          <a:xfrm>
            <a:off x="2376945" y="5143500"/>
            <a:ext cx="13396454" cy="3723790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PE"/>
          </a:p>
        </p:txBody>
      </p:sp>
      <p:sp>
        <p:nvSpPr>
          <p:cNvPr id="1563960745" name="TextBox 8"/>
          <p:cNvSpPr txBox="1"/>
          <p:nvPr/>
        </p:nvSpPr>
        <p:spPr bwMode="auto">
          <a:xfrm>
            <a:off x="3080514" y="5858181"/>
            <a:ext cx="12001084" cy="48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defRPr/>
            </a:pPr>
            <a:r>
              <a:rPr lang="es-PE" sz="3200" b="1">
                <a:latin typeface="Poppins"/>
                <a:cs typeface="Poppins"/>
              </a:rPr>
              <a:t>Objetivo del módulo: </a:t>
            </a:r>
            <a:r>
              <a:rPr lang="es-ES" sz="3200" b="1">
                <a:latin typeface="Poppins"/>
                <a:cs typeface="Poppins"/>
              </a:rPr>
              <a:t>persistir el modelo de dominio en base de datos con EF Core 8, dominando Fluent API, migraciones, datos semilla y consultas LINQ de alto rendimiento.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068399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907739783" name="Group 9"/>
          <p:cNvGrpSpPr>
            <a:grpSpLocks noChangeAspect="1"/>
          </p:cNvGrpSpPr>
          <p:nvPr/>
        </p:nvGrpSpPr>
        <p:grpSpPr bwMode="auto">
          <a:xfrm>
            <a:off x="15073741" y="8522063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475912823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grpSp>
        <p:nvGrpSpPr>
          <p:cNvPr id="1824530624" name="Group 3"/>
          <p:cNvGrpSpPr/>
          <p:nvPr/>
        </p:nvGrpSpPr>
        <p:grpSpPr bwMode="auto">
          <a:xfrm>
            <a:off x="-304800" y="-216840"/>
            <a:ext cx="8504210" cy="109991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689202194" name="Group 14"/>
          <p:cNvGrpSpPr/>
          <p:nvPr/>
        </p:nvGrpSpPr>
        <p:grpSpPr bwMode="auto">
          <a:xfrm>
            <a:off x="-1651256" y="-216840"/>
            <a:ext cx="10309690" cy="10999140"/>
            <a:chOff x="0" y="0"/>
            <a:chExt cx="6438020" cy="3659554"/>
          </a:xfrm>
        </p:grpSpPr>
        <p:sp>
          <p:nvSpPr>
            <p:cNvPr id="21" name="Freeform 15"/>
            <p:cNvSpPr/>
            <p:nvPr/>
          </p:nvSpPr>
          <p:spPr bwMode="auto">
            <a:xfrm>
              <a:off x="0" y="0"/>
              <a:ext cx="6438020" cy="3659554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2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sp>
        <p:nvSpPr>
          <p:cNvPr id="1610241063" name="TextBox 4"/>
          <p:cNvSpPr txBox="1"/>
          <p:nvPr/>
        </p:nvSpPr>
        <p:spPr bwMode="auto">
          <a:xfrm>
            <a:off x="9594256" y="2551515"/>
            <a:ext cx="6909292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s-PE" sz="50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Agenda</a:t>
            </a:r>
            <a:endParaRPr/>
          </a:p>
        </p:txBody>
      </p:sp>
      <p:sp>
        <p:nvSpPr>
          <p:cNvPr id="1060153805" name="CuadroTexto 5"/>
          <p:cNvSpPr txBox="1"/>
          <p:nvPr/>
        </p:nvSpPr>
        <p:spPr bwMode="auto">
          <a:xfrm>
            <a:off x="9594255" y="3186160"/>
            <a:ext cx="7191703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s-ES" sz="2800"/>
              <a:t>El rol de un ORM moderno: Entity Framework Core 8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DbContext y DbSet: conectando el dominio con la persistencia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Fluent API y mapeo avanzado de relaciones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Migraciones, control de versiones del esquema y Seed Data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Consultas LINQ eficientes: Include, AsNoTracking y Proyecciones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60267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622520221" name="Group 9"/>
          <p:cNvGrpSpPr>
            <a:grpSpLocks noChangeAspect="1"/>
          </p:cNvGrpSpPr>
          <p:nvPr/>
        </p:nvGrpSpPr>
        <p:grpSpPr bwMode="auto">
          <a:xfrm>
            <a:off x="15073741" y="8522063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01682865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95691980" name="TextBox 8"/>
          <p:cNvSpPr txBox="1"/>
          <p:nvPr/>
        </p:nvSpPr>
        <p:spPr bwMode="auto">
          <a:xfrm>
            <a:off x="9358416" y="4156678"/>
            <a:ext cx="8234999" cy="82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defRPr/>
            </a:pPr>
            <a:r>
              <a:rPr lang="es-ES" sz="5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Persistencia con Entity Framework Core</a:t>
            </a:r>
            <a:endParaRPr/>
          </a:p>
        </p:txBody>
      </p:sp>
      <p:sp>
        <p:nvSpPr>
          <p:cNvPr id="946765375" name="TextBox 16"/>
          <p:cNvSpPr txBox="1"/>
          <p:nvPr/>
        </p:nvSpPr>
        <p:spPr bwMode="auto">
          <a:xfrm>
            <a:off x="9340832" y="2773767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000" b="1">
                <a:solidFill>
                  <a:srgbClr val="F57D30"/>
                </a:solidFill>
                <a:latin typeface="Poppins Bold"/>
                <a:ea typeface="Poppins Bold"/>
                <a:cs typeface="Poppins Bold"/>
              </a:rPr>
              <a:t>Sesión 1:</a:t>
            </a:r>
            <a:endParaRPr/>
          </a:p>
        </p:txBody>
      </p:sp>
      <p:grpSp>
        <p:nvGrpSpPr>
          <p:cNvPr id="93758389" name="Group 3"/>
          <p:cNvGrpSpPr/>
          <p:nvPr/>
        </p:nvGrpSpPr>
        <p:grpSpPr bwMode="auto">
          <a:xfrm>
            <a:off x="-304800" y="-216840"/>
            <a:ext cx="8504210" cy="109991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509716494" name="Group 14"/>
          <p:cNvGrpSpPr/>
          <p:nvPr/>
        </p:nvGrpSpPr>
        <p:grpSpPr bwMode="auto">
          <a:xfrm>
            <a:off x="-1651256" y="-216840"/>
            <a:ext cx="10309690" cy="10999140"/>
            <a:chOff x="0" y="0"/>
            <a:chExt cx="6438020" cy="3659554"/>
          </a:xfrm>
        </p:grpSpPr>
        <p:sp>
          <p:nvSpPr>
            <p:cNvPr id="21" name="Freeform 15"/>
            <p:cNvSpPr/>
            <p:nvPr/>
          </p:nvSpPr>
          <p:spPr bwMode="auto">
            <a:xfrm>
              <a:off x="0" y="0"/>
              <a:ext cx="6438020" cy="3659554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2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¿Por qué un ORM en proyectos empresariales?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El puente entre dos mundos: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un ORM traduce clases y objetos de C# a tablas y columnas relacionales, evitando SQL manual repetitivo y propenso a inyección.</a:t>
            </a:r>
          </a:p>
        </p:txBody>
      </p:sp>
      <p:sp>
        <p:nvSpPr>
          <p:cNvPr id="5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⚡</a:t>
            </a:r>
          </a:p>
        </p:txBody>
      </p:sp>
      <p:sp>
        <p:nvSpPr>
          <p:cNvPr id="5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Productividad pura</a:t>
            </a:r>
          </a:p>
        </p:txBody>
      </p:sp>
      <p:sp>
        <p:nvSpPr>
          <p:cNvPr id="5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Consultas en C# fuertemente tipadas con LINQ y chequeo en compilación.</a:t>
            </a:r>
          </a:p>
        </p:txBody>
      </p:sp>
      <p:sp>
        <p:nvSpPr>
          <p:cNvPr id="5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🔐</a:t>
            </a:r>
          </a:p>
        </p:txBody>
      </p:sp>
      <p:sp>
        <p:nvSpPr>
          <p:cNvPr id="5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Seguridad nativa</a:t>
            </a:r>
          </a:p>
        </p:txBody>
      </p:sp>
      <p:sp>
        <p:nvSpPr>
          <p:cNvPr id="5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Parámetros automáticos en cada consulta: cero riesgo de SQL Injection.</a:t>
            </a:r>
          </a:p>
        </p:txBody>
      </p:sp>
      <p:sp>
        <p:nvSpPr>
          <p:cNvPr id="5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🌐</a:t>
            </a:r>
          </a:p>
        </p:txBody>
      </p:sp>
      <p:sp>
        <p:nvSpPr>
          <p:cNvPr id="5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Multi-proveedor</a:t>
            </a:r>
          </a:p>
        </p:txBody>
      </p:sp>
      <p:sp>
        <p:nvSpPr>
          <p:cNvPr id="5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Mismo código para SQLite en dev, PostgreSQL o SQL Server en producción.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2495916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703955894" name="TextBox 5"/>
          <p:cNvSpPr txBox="1"/>
          <p:nvPr/>
        </p:nvSpPr>
        <p:spPr bwMode="auto">
          <a:xfrm>
            <a:off x="1295400" y="795278"/>
            <a:ext cx="8751602" cy="528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PE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PREGUNTAS…</a:t>
            </a:r>
            <a:endParaRPr/>
          </a:p>
        </p:txBody>
      </p:sp>
      <p:grpSp>
        <p:nvGrpSpPr>
          <p:cNvPr id="1297811220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140021134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22609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1884417158" name="CuadroTexto 1"/>
          <p:cNvSpPr txBox="1"/>
          <p:nvPr/>
        </p:nvSpPr>
        <p:spPr bwMode="auto">
          <a:xfrm>
            <a:off x="1524135" y="2738232"/>
            <a:ext cx="15245486" cy="57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s-ES" sz="2600" b="1">
                <a:latin typeface="Roboto"/>
              </a:rPr>
              <a:t>¿Por qué preferimos Fluent API sobre Data Annotations en Arquitectura Limpia?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¿Qué es el problema del N+1 y cómo lo solucionamos con EF Core?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¿Cuándo es indispensable usar AsNoTracking en nuestras consultas?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¿Cómo automatizamos la auditoría (FechaCreacion, etc.) sin repetirla en cada servicio?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¿Cómo conviven las migraciones de EF Core con entornos de desarrollo y producción?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17057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33220437" name="TextBox 3"/>
          <p:cNvSpPr txBox="1"/>
          <p:nvPr/>
        </p:nvSpPr>
        <p:spPr bwMode="auto">
          <a:xfrm>
            <a:off x="5826929" y="1152525"/>
            <a:ext cx="5560289" cy="583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s-PE" sz="50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Conclusiones</a:t>
            </a:r>
            <a:endParaRPr/>
          </a:p>
        </p:txBody>
      </p:sp>
      <p:grpSp>
        <p:nvGrpSpPr>
          <p:cNvPr id="914401435" name="Group 4"/>
          <p:cNvGrpSpPr/>
          <p:nvPr/>
        </p:nvGrpSpPr>
        <p:grpSpPr bwMode="auto">
          <a:xfrm>
            <a:off x="0" y="1"/>
            <a:ext cx="4542912" cy="10287000"/>
            <a:chOff x="0" y="0"/>
            <a:chExt cx="1365125" cy="2989053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365125" cy="2989053"/>
            </a:xfrm>
            <a:custGeom>
              <a:avLst/>
              <a:gdLst/>
              <a:ahLst/>
              <a:cxnLst/>
              <a:rect l="l" t="t" r="r" b="b"/>
              <a:pathLst>
                <a:path w="1365125" h="2989053" fill="norm" stroke="1" extrusionOk="0">
                  <a:moveTo>
                    <a:pt x="0" y="0"/>
                  </a:moveTo>
                  <a:lnTo>
                    <a:pt x="1365125" y="0"/>
                  </a:lnTo>
                  <a:lnTo>
                    <a:pt x="1365125" y="2989053"/>
                  </a:lnTo>
                  <a:lnTo>
                    <a:pt x="0" y="2989053"/>
                  </a:lnTo>
                  <a:close/>
                </a:path>
              </a:pathLst>
            </a:custGeom>
            <a:blipFill rotWithShape="1">
              <a:blip r:embed="rId4"/>
              <a:stretch>
                <a:fillRect l="-144629" t="0" r="-144629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770516098" name="Group 7"/>
          <p:cNvGrpSpPr>
            <a:grpSpLocks noChangeAspect="1"/>
          </p:cNvGrpSpPr>
          <p:nvPr/>
        </p:nvGrpSpPr>
        <p:grpSpPr bwMode="auto">
          <a:xfrm rot="-5400000">
            <a:off x="3450133" y="1216207"/>
            <a:ext cx="2185559" cy="736237"/>
            <a:chOff x="0" y="0"/>
            <a:chExt cx="1231938" cy="414998"/>
          </a:xfrm>
        </p:grpSpPr>
        <p:sp>
          <p:nvSpPr>
            <p:cNvPr id="8" name="Freeform 8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39397620" name="Group 11"/>
          <p:cNvGrpSpPr/>
          <p:nvPr/>
        </p:nvGrpSpPr>
        <p:grpSpPr bwMode="auto">
          <a:xfrm>
            <a:off x="215779" y="293877"/>
            <a:ext cx="3796083" cy="1442140"/>
            <a:chOff x="0" y="0"/>
            <a:chExt cx="3731719" cy="1122625"/>
          </a:xfrm>
        </p:grpSpPr>
        <p:sp>
          <p:nvSpPr>
            <p:cNvPr id="12" name="TextBox 12"/>
            <p:cNvSpPr txBox="1"/>
            <p:nvPr/>
          </p:nvSpPr>
          <p:spPr bwMode="auto">
            <a:xfrm>
              <a:off x="1413024" y="749031"/>
              <a:ext cx="2055291" cy="22609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7001" name="tp"/>
          <p:cNvSpPr txBox="1"/>
          <p:nvPr/>
        </p:nvSpPr>
        <p:spPr>
          <a:xfrm>
            <a:off x="5200000" y="2300000"/>
            <a:ext cx="12500000" cy="6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EF Core 8 combina productividad con un motor de consultas SQL altamente optimizado.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Fluent API mantiene el dominio puro, desacoplando la persistencia de las reglas de negocio.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Las migraciones permiten versionar la base de datos como código fuente (Db as Code).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Include y AsNoTracking son obligatorios para evitar cuellos de botella y fugas de memoria.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La semilla de datos garantiza que el sistema arranque con roles, usuarios y catálogos listos.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72734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665207640" name="Group 3"/>
          <p:cNvGrpSpPr/>
          <p:nvPr/>
        </p:nvGrpSpPr>
        <p:grpSpPr bwMode="auto">
          <a:xfrm>
            <a:off x="-1" y="-1"/>
            <a:ext cx="18288001" cy="8226262"/>
            <a:chOff x="0" y="0"/>
            <a:chExt cx="5335253" cy="239055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335253" cy="2390552"/>
            </a:xfrm>
            <a:custGeom>
              <a:avLst/>
              <a:gdLst/>
              <a:ahLst/>
              <a:cxnLst/>
              <a:rect l="l" t="t" r="r" b="b"/>
              <a:pathLst>
                <a:path w="5335253" h="2390552" fill="norm" stroke="1" extrusionOk="0">
                  <a:moveTo>
                    <a:pt x="0" y="0"/>
                  </a:moveTo>
                  <a:lnTo>
                    <a:pt x="5335253" y="0"/>
                  </a:lnTo>
                  <a:lnTo>
                    <a:pt x="5335253" y="2390552"/>
                  </a:lnTo>
                  <a:lnTo>
                    <a:pt x="0" y="2390552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12769" r="0" b="-12769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596994680" name="TextBox 5"/>
          <p:cNvSpPr txBox="1"/>
          <p:nvPr/>
        </p:nvSpPr>
        <p:spPr bwMode="auto">
          <a:xfrm>
            <a:off x="4768199" y="4575175"/>
            <a:ext cx="8751602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defRPr/>
            </a:pPr>
            <a:r>
              <a:rPr lang="es-PE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GRACIAS</a:t>
            </a:r>
            <a:endParaRPr/>
          </a:p>
        </p:txBody>
      </p:sp>
      <p:grpSp>
        <p:nvGrpSpPr>
          <p:cNvPr id="1684371580" name="Group 6"/>
          <p:cNvGrpSpPr>
            <a:grpSpLocks noChangeAspect="1"/>
          </p:cNvGrpSpPr>
          <p:nvPr/>
        </p:nvGrpSpPr>
        <p:grpSpPr bwMode="auto">
          <a:xfrm>
            <a:off x="8051220" y="7858143"/>
            <a:ext cx="2185559" cy="736237"/>
            <a:chOff x="0" y="0"/>
            <a:chExt cx="1231938" cy="414998"/>
          </a:xfrm>
        </p:grpSpPr>
        <p:sp>
          <p:nvSpPr>
            <p:cNvPr id="7" name="Freeform 7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La anatomía de DbContext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9F2D0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1B7A2F"/>
                </a:solidFill>
                <a:latin typeface="Roboto"/>
              </a:rPr>
              <a:t>Unidad de trabajo y repositorio combinados: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DbContext gestiona las conexiones, rastrea cambios en memoria y sincroniza con la base de datos al guardar.</a:t>
            </a:r>
          </a:p>
        </p:txBody>
      </p:sp>
      <p:sp>
        <p:nvSpPr>
          <p:cNvPr id="91" name="tp"/>
          <p:cNvSpPr txBox="1"/>
          <p:nvPr/>
        </p:nvSpPr>
        <p:spPr>
          <a:xfrm>
            <a:off x="1300000" y="4000000"/>
            <a:ext cx="15700000" cy="54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DbSet&lt;T&gt;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Representa la colección de entidades en memoria y mapea directamente a una tabla.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Change Tracker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Detecta si una entidad fue agregada, modificada o eliminada para generar el SQL exacto.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OnModelCreating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El punto de encuentro donde Fluent API configura tipos, relaciones y restricciones.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8B3FD9"/>
                </a:solidFill>
              </a:rPr>
              <a:t>SaveChangesAsync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Ejecuta todas las operaciones pendientes dentro de una transacción implícita.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888888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Se registra en Dependency Injection con ciclo de vida Scoped por cada petición HTTP.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Declaración del DbContext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0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SolicitudesDbContext.cs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SolicitudesDbContext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DbContext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SolicitudesDbContext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DbContextOptions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SolicitudesDbContext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opt) 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base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(opt) {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DbSet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Solicitudes =&gt;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DbSet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SolicitudDetalle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SolicitudDetalles =&gt;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SolicitudDetalle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DbSet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Usuario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Usuarios =&gt;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Usuario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DbSet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Rol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Roles =&gt;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Rol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DbSet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Aprobacion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Aprobaciones =&gt;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Aprobacion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DbSet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MovimientoTesoreria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Movimientos =&gt;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MovimientoTesoreria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Fluent API vs Data Annotations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101" name="r"/>
          <p:cNvSpPr/>
          <p:nvPr/>
        </p:nvSpPr>
        <p:spPr>
          <a:xfrm>
            <a:off x="13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4B4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102" name="t"/>
          <p:cNvSpPr txBox="1"/>
          <p:nvPr/>
        </p:nvSpPr>
        <p:spPr>
          <a:xfrm>
            <a:off x="15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D14B4B"/>
                </a:solidFill>
                <a:latin typeface="Roboto"/>
              </a:rPr>
              <a:t>Data Annotations</a:t>
            </a:r>
          </a:p>
        </p:txBody>
      </p:sp>
      <p:sp>
        <p:nvSpPr>
          <p:cNvPr id="1103" name="tp"/>
          <p:cNvSpPr txBox="1"/>
          <p:nvPr/>
        </p:nvSpPr>
        <p:spPr>
          <a:xfrm>
            <a:off x="14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Contamina el dominio con atributos [Table], [Column]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Depende de DataAnnotations en la capa Domain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No soporta configuraciones complejas o compuestas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Dificulta reutilizar el dominio en otros contextos</a:t>
            </a:r>
          </a:p>
        </p:txBody>
      </p:sp>
      <p:sp>
        <p:nvSpPr>
          <p:cNvPr id="1104" name="t"/>
          <p:cNvSpPr txBox="1"/>
          <p:nvPr/>
        </p:nvSpPr>
        <p:spPr>
          <a:xfrm>
            <a:off x="8550000" y="4600000"/>
            <a:ext cx="1200000" cy="1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4000" b="1">
                <a:solidFill>
                  <a:srgbClr val="888888"/>
                </a:solidFill>
                <a:latin typeface="Roboto"/>
              </a:rPr>
              <a:t>➞</a:t>
            </a:r>
          </a:p>
        </p:txBody>
      </p:sp>
      <p:sp>
        <p:nvSpPr>
          <p:cNvPr id="1105" name="r"/>
          <p:cNvSpPr/>
          <p:nvPr/>
        </p:nvSpPr>
        <p:spPr>
          <a:xfrm>
            <a:off x="99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EAF8E6"/>
          </a:solidFill>
          <a:ln w="1905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106" name="t"/>
          <p:cNvSpPr txBox="1"/>
          <p:nvPr/>
        </p:nvSpPr>
        <p:spPr>
          <a:xfrm>
            <a:off x="101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2EA84F"/>
                </a:solidFill>
                <a:latin typeface="Roboto"/>
              </a:rPr>
              <a:t>Fluent API</a:t>
            </a:r>
          </a:p>
        </p:txBody>
      </p:sp>
      <p:sp>
        <p:nvSpPr>
          <p:cNvPr id="1107" name="tp"/>
          <p:cNvSpPr txBox="1"/>
          <p:nvPr/>
        </p:nvSpPr>
        <p:spPr>
          <a:xfrm>
            <a:off x="100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El Dominio queda 100% puro y agnóstico a la base de datos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Configuraciones en clases separadas IEntityTypeConfiguration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Control total de indices, tipos de columna y cascadas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Estándar indiscutible en Clean Architecture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Configuración de Solicitud con Fluent API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2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SolicitudConfiguration.cs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SolicitudConfig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IEntityTypeConfiguration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void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Configure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EntityTypeBuilder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builder)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builder.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ToTable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"Solicitudes"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builder.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HasKey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builder.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Property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s.Motivo).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IsRequired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HasMaxLength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(250);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builder.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Property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s.MontoTotal).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HasPrecision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(18, 2);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builder.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Property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s.Estado).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HasConversion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Mapeo de relaciones 1 a 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3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Relaciones.cs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Una Solicitud tiene muchos Detalles (1 -&gt; N)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builder.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HasMany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s.Detalles)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WithOne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 =&gt; d.Solicitud)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HasForeignKey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 =&gt; d.SolicitudId)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OnDelete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DeleteBehavior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.Cascade);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Solicitante (1 -&gt; N desde Usuario)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builder.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HasOne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s.Solicitante)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WithMany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HasForeignKey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s.SolicitanteId)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OnDelete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DeleteBehavior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.Restrict);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Restricciones de borrado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4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FFE9D6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F57D30"/>
                </a:solidFill>
                <a:latin typeface="Roboto"/>
              </a:rPr>
              <a:t>Protege los datos contra eliminaciones accidentales: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elegir la estrategia correcta de borrado previene pérdida irrecuperable de información contable.</a:t>
            </a:r>
          </a:p>
        </p:txBody>
      </p:sp>
      <p:sp>
        <p:nvSpPr>
          <p:cNvPr id="14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🚫</a:t>
            </a:r>
          </a:p>
        </p:txBody>
      </p:sp>
      <p:sp>
        <p:nvSpPr>
          <p:cNvPr id="14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Restrict / NoAction</a:t>
            </a:r>
          </a:p>
        </p:txBody>
      </p:sp>
      <p:sp>
        <p:nvSpPr>
          <p:cNvPr id="14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Impide borrar un Usuario si tiene solicitudes o aprobaciones asociadas.</a:t>
            </a:r>
          </a:p>
        </p:txBody>
      </p:sp>
      <p:sp>
        <p:nvSpPr>
          <p:cNvPr id="14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🗑</a:t>
            </a:r>
          </a:p>
        </p:txBody>
      </p:sp>
      <p:sp>
        <p:nvSpPr>
          <p:cNvPr id="14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Cascade</a:t>
            </a:r>
          </a:p>
        </p:txBody>
      </p:sp>
      <p:sp>
        <p:nvSpPr>
          <p:cNvPr id="14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Elimina detalles al borrar la cabecera (válido solo para hijos dependientes).</a:t>
            </a:r>
          </a:p>
        </p:txBody>
      </p:sp>
      <p:sp>
        <p:nvSpPr>
          <p:cNvPr id="14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👁</a:t>
            </a:r>
          </a:p>
        </p:txBody>
      </p:sp>
      <p:sp>
        <p:nvSpPr>
          <p:cNvPr id="14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Soft Delete</a:t>
            </a:r>
          </a:p>
        </p:txBody>
      </p:sp>
      <p:sp>
        <p:nvSpPr>
          <p:cNvPr id="14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Regla pro: nunca borrar físicamente solicitudes, usar IsDeleted = true.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Auditoría automática con SaveChanges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5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AuditoriaInterceptor.cs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Sobrescribir SaveChangesAsync para llenar fechas y usuarios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override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SaveChangesAsync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CancellationToken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ct =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default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foreach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entry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ChangeTracker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Entries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EntidadAuditable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(entry.State ==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EntityState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.Added)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entry.Entity.FechaCreacion =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DateTime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.UtcNow;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(entry.State ==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EntityState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.Modified)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entry.Entity.FechaModificacion =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DateTime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.UtcNow;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await base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SaveChangesAsync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(ct);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ciclo de vida de las migraciones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601" name="r"/>
          <p:cNvSpPr/>
          <p:nvPr/>
        </p:nvSpPr>
        <p:spPr>
          <a:xfrm>
            <a:off x="1300000" y="3050000"/>
            <a:ext cx="15700000" cy="60000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 w="0">
            <a:solidFill>
              <a:srgbClr val="333333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02" name="e"/>
          <p:cNvSpPr/>
          <p:nvPr/>
        </p:nvSpPr>
        <p:spPr>
          <a:xfrm>
            <a:off x="2200000" y="2900000"/>
            <a:ext cx="360000" cy="360000"/>
          </a:xfrm>
          <a:prstGeom prst="ellipse">
            <a:avLst/>
          </a:prstGeom>
          <a:solidFill>
            <a:srgbClr val="1F6FEB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031" name="r"/>
          <p:cNvSpPr/>
          <p:nvPr/>
        </p:nvSpPr>
        <p:spPr>
          <a:xfrm>
            <a:off x="13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 w="0">
            <a:solidFill>
              <a:srgbClr val="1F6FE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032" name="r"/>
          <p:cNvSpPr/>
          <p:nvPr/>
        </p:nvSpPr>
        <p:spPr>
          <a:xfrm>
            <a:off x="13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033" name="t"/>
          <p:cNvSpPr txBox="1"/>
          <p:nvPr/>
        </p:nvSpPr>
        <p:spPr>
          <a:xfrm>
            <a:off x="15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Crear migración</a:t>
            </a:r>
          </a:p>
        </p:txBody>
      </p:sp>
      <p:sp>
        <p:nvSpPr>
          <p:cNvPr id="16034" name="tp"/>
          <p:cNvSpPr txBox="1"/>
          <p:nvPr/>
        </p:nvSpPr>
        <p:spPr>
          <a:xfrm>
            <a:off x="14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dotnet ef migrations add Inicial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Compara el DbContext con la última foto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Genera código C# con Up() y Down()</a:t>
            </a:r>
          </a:p>
        </p:txBody>
      </p:sp>
      <p:sp>
        <p:nvSpPr>
          <p:cNvPr id="1604" name="e"/>
          <p:cNvSpPr/>
          <p:nvPr/>
        </p:nvSpPr>
        <p:spPr>
          <a:xfrm>
            <a:off x="7500000" y="2900000"/>
            <a:ext cx="360000" cy="360000"/>
          </a:xfrm>
          <a:prstGeom prst="ellipse">
            <a:avLst/>
          </a:prstGeom>
          <a:solidFill>
            <a:srgbClr val="2EA84F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051" name="r"/>
          <p:cNvSpPr/>
          <p:nvPr/>
        </p:nvSpPr>
        <p:spPr>
          <a:xfrm>
            <a:off x="66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 w="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052" name="r"/>
          <p:cNvSpPr/>
          <p:nvPr/>
        </p:nvSpPr>
        <p:spPr>
          <a:xfrm>
            <a:off x="66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053" name="t"/>
          <p:cNvSpPr txBox="1"/>
          <p:nvPr/>
        </p:nvSpPr>
        <p:spPr>
          <a:xfrm>
            <a:off x="68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Revisar el script</a:t>
            </a:r>
          </a:p>
        </p:txBody>
      </p:sp>
      <p:sp>
        <p:nvSpPr>
          <p:cNvPr id="16054" name="tp"/>
          <p:cNvSpPr txBox="1"/>
          <p:nvPr/>
        </p:nvSpPr>
        <p:spPr>
          <a:xfrm>
            <a:off x="67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Verificar nombres de tablas y columnas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dotnet ef migrations script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Validar tipos numéricos e índices</a:t>
            </a:r>
          </a:p>
        </p:txBody>
      </p:sp>
      <p:sp>
        <p:nvSpPr>
          <p:cNvPr id="1606" name="e"/>
          <p:cNvSpPr/>
          <p:nvPr/>
        </p:nvSpPr>
        <p:spPr>
          <a:xfrm>
            <a:off x="12800000" y="2900000"/>
            <a:ext cx="360000" cy="360000"/>
          </a:xfrm>
          <a:prstGeom prst="ellipse">
            <a:avLst/>
          </a:prstGeom>
          <a:solidFill>
            <a:srgbClr val="F57D30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071" name="r"/>
          <p:cNvSpPr/>
          <p:nvPr/>
        </p:nvSpPr>
        <p:spPr>
          <a:xfrm>
            <a:off x="119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F57D30"/>
          </a:solidFill>
          <a:ln w="0">
            <a:solidFill>
              <a:srgbClr val="F57D30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072" name="r"/>
          <p:cNvSpPr/>
          <p:nvPr/>
        </p:nvSpPr>
        <p:spPr>
          <a:xfrm>
            <a:off x="119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073" name="t"/>
          <p:cNvSpPr txBox="1"/>
          <p:nvPr/>
        </p:nvSpPr>
        <p:spPr>
          <a:xfrm>
            <a:off x="121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Aplicar cambios</a:t>
            </a:r>
          </a:p>
        </p:txBody>
      </p:sp>
      <p:sp>
        <p:nvSpPr>
          <p:cNvPr id="16074" name="tp"/>
          <p:cNvSpPr txBox="1"/>
          <p:nvPr/>
        </p:nvSpPr>
        <p:spPr>
          <a:xfrm>
            <a:off x="120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dotnet ef database update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Ejecuta transacciones DDL seguras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Actualiza la tabla __EFMigrationsHistory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Semilla de datos (Seed Data)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7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SeedData.cs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Garantiza usuarios y roles maestros al crear la BD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builder.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Entity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Rol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HasData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Rol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Id = 1, Nombre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"Usuario"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},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Rol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Id = 2, Nombre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"Revisor"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},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Rol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Id = 3, Nombre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"Aprobador"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},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Rol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Id = 4, Nombre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"Tesoreria"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HasData requiere especificar la clave primaria explícitamente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peligro del problema N+1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8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FFE9D6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F57D30"/>
                </a:solidFill>
                <a:latin typeface="Roboto"/>
              </a:rPr>
              <a:t>Un bug silencioso de rendimiento: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si recorres 100 solicitudes e invocas sus detalles en un bucle sin Include, EF Core ejecutará 101 consultas a la base de datos.</a:t>
            </a:r>
          </a:p>
        </p:txBody>
      </p:sp>
      <p:sp>
        <p:nvSpPr>
          <p:cNvPr id="18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FFD6D6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🐢</a:t>
            </a:r>
          </a:p>
        </p:txBody>
      </p:sp>
      <p:sp>
        <p:nvSpPr>
          <p:cNvPr id="18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D14B4B"/>
                </a:solidFill>
                <a:latin typeface="Roboto"/>
              </a:rPr>
              <a:t>El síntoma</a:t>
            </a:r>
          </a:p>
        </p:txBody>
      </p:sp>
      <p:sp>
        <p:nvSpPr>
          <p:cNvPr id="18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La API responde lento en producción cuando la cantidad de registros crece.</a:t>
            </a:r>
          </a:p>
        </p:txBody>
      </p:sp>
      <p:sp>
        <p:nvSpPr>
          <p:cNvPr id="18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🚀</a:t>
            </a:r>
          </a:p>
        </p:txBody>
      </p:sp>
      <p:sp>
        <p:nvSpPr>
          <p:cNvPr id="18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La solución: Include</a:t>
            </a:r>
          </a:p>
        </p:txBody>
      </p:sp>
      <p:sp>
        <p:nvSpPr>
          <p:cNvPr id="18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Eager Loading trae la cabecera y los hijos en un solo JOIN relacional.</a:t>
            </a:r>
          </a:p>
        </p:txBody>
      </p:sp>
      <p:sp>
        <p:nvSpPr>
          <p:cNvPr id="18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🔍</a:t>
            </a:r>
          </a:p>
        </p:txBody>
      </p:sp>
      <p:sp>
        <p:nvSpPr>
          <p:cNvPr id="18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ThenInclude</a:t>
            </a:r>
          </a:p>
        </p:txBody>
      </p:sp>
      <p:sp>
        <p:nvSpPr>
          <p:cNvPr id="18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Para navegar relaciones anidadas: s.Aprobaciones -&gt; a.Responsable.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Optimización crítica: AsNoTracking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9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AsNoTracking.cs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Para consultas de solo lectura: el Change Tracker se apaga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ListarActivasAsync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_db.Solicitudes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AsNoTracking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Include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s.Solicitante)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Include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s.Detalles)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Where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s.Estado !=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.Pagada)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ToListAsync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Hasta 3x más rápido y 50% menos consumo de memoria RAM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Proyecciones LINQ con Select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0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Proyecciones.cs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Solo viajan las columnas que el DTO necesita: cero SELECT *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resumen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_db.Solicitudes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Where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s.Estado ==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.Enviada)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Select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SolicitudResumenDto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Id = s.Id, Motivo = s.Motivo, Monto = s.MontoTotal,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Solicitante = s.Solicitante!.NombreCompleto,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TotalItems = s.Detalles.Count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ToListAsync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EF Core genera un SELECT con las 5 columnas exactas, sin JOINs pesados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Transacciones y consistencia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1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Transacciones.cs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Operaciones que involucran múltiples cambios atómicos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using 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tx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_db.Database.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BeginTransactionAsync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/>
            <a:r>
              <a:rPr lang="es-PE" sz="1600">
                <a:solidFill>
                  <a:srgbClr val="C586C0"/>
                </a:solidFill>
                <a:latin typeface="Courier New"/>
              </a:rPr>
              <a:t>try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_db.Solicitudes.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Update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(solicitud);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_db.Movimientos.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Add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(movimientoPago);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SaveChangesAsync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tx.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CommitAsync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lang="es-PE" sz="1600">
                <a:solidFill>
                  <a:srgbClr val="C586C0"/>
                </a:solidFill>
                <a:latin typeface="Courier New"/>
              </a:rPr>
              <a:t>catch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tx.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RollbackAsync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();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throw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Registro de DbContext en Program.cs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2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Program.cs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Cadena de conexión leída desde appsettings.json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connStr = builder.Configuration.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GetConnectionString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"DefaultConnection"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Registro Scoped en el contenedor de dependencias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builder.Services.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AddDbContext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SolicitudesDbContext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&gt;(options =&gt;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options.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UseSqlite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(connStr);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6A9955"/>
                </a:solidFill>
                <a:latin typeface="Courier New"/>
              </a:rPr>
              <a:t>// En producción: options.UseNpgsql(connStr);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(builder.Environment.IsDevelopment())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options.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EnableSensitiveDataLogging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Depuración: inspeccionar el SQL real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3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DepuracionSql.cs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ToQueryString muestra la sentencia SQL antes de enviarla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query = _db.Solicitudes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Where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s.MontoTotal &gt; 1000)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OrderByDescending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s.FechaCreacion);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sql = query.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ToQueryString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/>
            <a:r>
              <a:rPr lang="es-PE" sz="1600">
                <a:solidFill>
                  <a:srgbClr val="4EC9B0"/>
                </a:solidFill>
                <a:latin typeface="Courier New"/>
              </a:rPr>
              <a:t>Console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WriteLine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(sql);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Resultado: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SELECT s.Id, s.Motivo, s.MontoTotal FROM Solicitudes AS 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WHERE s.MontoTotal &gt; @__p_0 ORDER BY s.FechaCreacion DESC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Resiliencia y pooling de conexiones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4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Conexiones robustas para la nube: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en aplicaciones con alto tráfico o bases de datos en la nube (AWS RDS, Azure SQL), la red puede tener microcortes temporales.</a:t>
            </a:r>
          </a:p>
        </p:txBody>
      </p:sp>
      <p:sp>
        <p:nvSpPr>
          <p:cNvPr id="24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🔄</a:t>
            </a:r>
          </a:p>
        </p:txBody>
      </p:sp>
      <p:sp>
        <p:nvSpPr>
          <p:cNvPr id="24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Reintentos automáticos</a:t>
            </a:r>
          </a:p>
        </p:txBody>
      </p:sp>
      <p:sp>
        <p:nvSpPr>
          <p:cNvPr id="24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EnableRetryOnFailure(): reintenta automáticamente fallos transitorios.</a:t>
            </a:r>
          </a:p>
        </p:txBody>
      </p:sp>
      <p:sp>
        <p:nvSpPr>
          <p:cNvPr id="24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🏗</a:t>
            </a:r>
          </a:p>
        </p:txBody>
      </p:sp>
      <p:sp>
        <p:nvSpPr>
          <p:cNvPr id="24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DbContext Pooling</a:t>
            </a:r>
          </a:p>
        </p:txBody>
      </p:sp>
      <p:sp>
        <p:nvSpPr>
          <p:cNvPr id="24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AddDbContextPool: reutiliza instancias del DbContext para reducir asignación de GC.</a:t>
            </a:r>
          </a:p>
        </p:txBody>
      </p:sp>
      <p:sp>
        <p:nvSpPr>
          <p:cNvPr id="24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⏱</a:t>
            </a:r>
          </a:p>
        </p:txBody>
      </p:sp>
      <p:sp>
        <p:nvSpPr>
          <p:cNvPr id="24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Timeouts claros</a:t>
            </a:r>
          </a:p>
        </p:txBody>
      </p:sp>
      <p:sp>
        <p:nvSpPr>
          <p:cNvPr id="24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CommandTimeout explícito para evitar hilos bloqueados por consultas lentas.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Checklist de buenas prácticas EF Core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9F2D0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1B7A2F"/>
                </a:solidFill>
                <a:latin typeface="Roboto"/>
              </a:rPr>
              <a:t>Reglas de oro de persistencia: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diseñar pensando en escalabilidad desde la primera migración.</a:t>
            </a:r>
          </a:p>
        </p:txBody>
      </p:sp>
      <p:sp>
        <p:nvSpPr>
          <p:cNvPr id="251" name="tp"/>
          <p:cNvSpPr txBox="1"/>
          <p:nvPr/>
        </p:nvSpPr>
        <p:spPr>
          <a:xfrm>
            <a:off x="1300000" y="4000000"/>
            <a:ext cx="15700000" cy="54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Mantén las clases de configuración IEntityTypeConfiguration separadas por archivo.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 siempre AsNoTracking() en endpoints GET de consulta.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 proyecciones con Select cuando solo necesitas campos específicos.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Configura DeleteBehavior.Restrict en claves foráneas de tablas maestras.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Revisa el SQL generado con ToQueryString() o con los logs de consola.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Errores comunes en persistencia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601" name="r"/>
          <p:cNvSpPr/>
          <p:nvPr/>
        </p:nvSpPr>
        <p:spPr>
          <a:xfrm>
            <a:off x="13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4B4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602" name="t"/>
          <p:cNvSpPr txBox="1"/>
          <p:nvPr/>
        </p:nvSpPr>
        <p:spPr>
          <a:xfrm>
            <a:off x="15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D14B4B"/>
                </a:solidFill>
                <a:latin typeface="Roboto"/>
              </a:rPr>
              <a:t>Evita esto</a:t>
            </a:r>
          </a:p>
        </p:txBody>
      </p:sp>
      <p:sp>
        <p:nvSpPr>
          <p:cNvPr id="2603" name="tp"/>
          <p:cNvSpPr txBox="1"/>
          <p:nvPr/>
        </p:nvSpPr>
        <p:spPr>
          <a:xfrm>
            <a:off x="14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Usar .ToList() antes de filtrar con .Where() (trae todo a memoria)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Olvidar Include al consultar entidades hijas y provocar N+1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Usar DbContext como Singleton (falla por concurrencia de hilos)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Dejar tipos decimal sin precisión explícita HasPrecision(18,2)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Modificar la base de datos a mano sin registrar la migración</a:t>
            </a:r>
          </a:p>
        </p:txBody>
      </p:sp>
      <p:sp>
        <p:nvSpPr>
          <p:cNvPr id="2604" name="t"/>
          <p:cNvSpPr txBox="1"/>
          <p:nvPr/>
        </p:nvSpPr>
        <p:spPr>
          <a:xfrm>
            <a:off x="8550000" y="4600000"/>
            <a:ext cx="1200000" cy="1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4000" b="1">
                <a:solidFill>
                  <a:srgbClr val="888888"/>
                </a:solidFill>
                <a:latin typeface="Roboto"/>
              </a:rPr>
              <a:t>➞</a:t>
            </a:r>
          </a:p>
        </p:txBody>
      </p:sp>
      <p:sp>
        <p:nvSpPr>
          <p:cNvPr id="2605" name="r"/>
          <p:cNvSpPr/>
          <p:nvPr/>
        </p:nvSpPr>
        <p:spPr>
          <a:xfrm>
            <a:off x="99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EAF8E6"/>
          </a:solidFill>
          <a:ln w="1905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606" name="t"/>
          <p:cNvSpPr txBox="1"/>
          <p:nvPr/>
        </p:nvSpPr>
        <p:spPr>
          <a:xfrm>
            <a:off x="101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2EA84F"/>
                </a:solidFill>
                <a:latin typeface="Roboto"/>
              </a:rPr>
              <a:t>Haz esto</a:t>
            </a:r>
          </a:p>
        </p:txBody>
      </p:sp>
      <p:sp>
        <p:nvSpPr>
          <p:cNvPr id="2607" name="tp"/>
          <p:cNvSpPr txBox="1"/>
          <p:nvPr/>
        </p:nvSpPr>
        <p:spPr>
          <a:xfrm>
            <a:off x="100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Filtrar en la base de datos con Where() antes de materializar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Aplicar Include o proyecciones Select específicas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Registrar DbContext como Scoped en Dependency Injection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Configurar precisión decimal exacta para importes de dinero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Gestionar todo cambio estructural mediante dotnet ef migrations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Resumen de la sesión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711" name="e"/>
          <p:cNvSpPr/>
          <p:nvPr/>
        </p:nvSpPr>
        <p:spPr>
          <a:xfrm>
            <a:off x="3000000" y="270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🧩</a:t>
            </a:r>
          </a:p>
        </p:txBody>
      </p:sp>
      <p:sp>
        <p:nvSpPr>
          <p:cNvPr id="2712" name="t"/>
          <p:cNvSpPr txBox="1"/>
          <p:nvPr/>
        </p:nvSpPr>
        <p:spPr>
          <a:xfrm>
            <a:off x="1100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DbContext</a:t>
            </a:r>
          </a:p>
        </p:txBody>
      </p:sp>
      <p:sp>
        <p:nvSpPr>
          <p:cNvPr id="2713" name="t"/>
          <p:cNvSpPr txBox="1"/>
          <p:nvPr/>
        </p:nvSpPr>
        <p:spPr>
          <a:xfrm>
            <a:off x="1100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Unidad de trabajo y repositorio central.</a:t>
            </a:r>
          </a:p>
        </p:txBody>
      </p:sp>
      <p:sp>
        <p:nvSpPr>
          <p:cNvPr id="2721" name="e"/>
          <p:cNvSpPr/>
          <p:nvPr/>
        </p:nvSpPr>
        <p:spPr>
          <a:xfrm>
            <a:off x="8644000" y="270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📝</a:t>
            </a:r>
          </a:p>
        </p:txBody>
      </p:sp>
      <p:sp>
        <p:nvSpPr>
          <p:cNvPr id="2722" name="t"/>
          <p:cNvSpPr txBox="1"/>
          <p:nvPr/>
        </p:nvSpPr>
        <p:spPr>
          <a:xfrm>
            <a:off x="6744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Fluent API</a:t>
            </a:r>
          </a:p>
        </p:txBody>
      </p:sp>
      <p:sp>
        <p:nvSpPr>
          <p:cNvPr id="2723" name="t"/>
          <p:cNvSpPr txBox="1"/>
          <p:nvPr/>
        </p:nvSpPr>
        <p:spPr>
          <a:xfrm>
            <a:off x="6744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Configuración limpia desacoplada del dominio.</a:t>
            </a:r>
          </a:p>
        </p:txBody>
      </p:sp>
      <p:sp>
        <p:nvSpPr>
          <p:cNvPr id="2731" name="e"/>
          <p:cNvSpPr/>
          <p:nvPr/>
        </p:nvSpPr>
        <p:spPr>
          <a:xfrm>
            <a:off x="14288000" y="2700000"/>
            <a:ext cx="1000000" cy="1000000"/>
          </a:xfrm>
          <a:prstGeom prst="ellipse">
            <a:avLst/>
          </a:prstGeom>
          <a:solidFill>
            <a:srgbClr val="ECD9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🚀</a:t>
            </a:r>
          </a:p>
        </p:txBody>
      </p:sp>
      <p:sp>
        <p:nvSpPr>
          <p:cNvPr id="2732" name="t"/>
          <p:cNvSpPr txBox="1"/>
          <p:nvPr/>
        </p:nvSpPr>
        <p:spPr>
          <a:xfrm>
            <a:off x="12388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8B3FD9"/>
                </a:solidFill>
                <a:latin typeface="Roboto"/>
              </a:rPr>
              <a:t>Migraciones</a:t>
            </a:r>
          </a:p>
        </p:txBody>
      </p:sp>
      <p:sp>
        <p:nvSpPr>
          <p:cNvPr id="2733" name="t"/>
          <p:cNvSpPr txBox="1"/>
          <p:nvPr/>
        </p:nvSpPr>
        <p:spPr>
          <a:xfrm>
            <a:off x="12388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Control de cambios de esquema en código C#.</a:t>
            </a:r>
          </a:p>
        </p:txBody>
      </p:sp>
      <p:sp>
        <p:nvSpPr>
          <p:cNvPr id="2741" name="e"/>
          <p:cNvSpPr/>
          <p:nvPr/>
        </p:nvSpPr>
        <p:spPr>
          <a:xfrm>
            <a:off x="3000000" y="620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🌱</a:t>
            </a:r>
          </a:p>
        </p:txBody>
      </p:sp>
      <p:sp>
        <p:nvSpPr>
          <p:cNvPr id="2742" name="t"/>
          <p:cNvSpPr txBox="1"/>
          <p:nvPr/>
        </p:nvSpPr>
        <p:spPr>
          <a:xfrm>
            <a:off x="1100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Seed Data</a:t>
            </a:r>
          </a:p>
        </p:txBody>
      </p:sp>
      <p:sp>
        <p:nvSpPr>
          <p:cNvPr id="2743" name="t"/>
          <p:cNvSpPr txBox="1"/>
          <p:nvPr/>
        </p:nvSpPr>
        <p:spPr>
          <a:xfrm>
            <a:off x="1100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Carga automática de catálogos y roles.</a:t>
            </a:r>
          </a:p>
        </p:txBody>
      </p:sp>
      <p:sp>
        <p:nvSpPr>
          <p:cNvPr id="2751" name="e"/>
          <p:cNvSpPr/>
          <p:nvPr/>
        </p:nvSpPr>
        <p:spPr>
          <a:xfrm>
            <a:off x="8644000" y="6200000"/>
            <a:ext cx="1000000" cy="1000000"/>
          </a:xfrm>
          <a:prstGeom prst="ellipse">
            <a:avLst/>
          </a:prstGeom>
          <a:solidFill>
            <a:srgbClr val="CCF2EA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⚡</a:t>
            </a:r>
          </a:p>
        </p:txBody>
      </p:sp>
      <p:sp>
        <p:nvSpPr>
          <p:cNvPr id="2752" name="t"/>
          <p:cNvSpPr txBox="1"/>
          <p:nvPr/>
        </p:nvSpPr>
        <p:spPr>
          <a:xfrm>
            <a:off x="6744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AA39A"/>
                </a:solidFill>
                <a:latin typeface="Roboto"/>
              </a:rPr>
              <a:t>AsNoTracking</a:t>
            </a:r>
          </a:p>
        </p:txBody>
      </p:sp>
      <p:sp>
        <p:nvSpPr>
          <p:cNvPr id="2753" name="t"/>
          <p:cNvSpPr txBox="1"/>
          <p:nvPr/>
        </p:nvSpPr>
        <p:spPr>
          <a:xfrm>
            <a:off x="6744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Lecturas ultra-rápidas sin sobrecarga.</a:t>
            </a:r>
          </a:p>
        </p:txBody>
      </p:sp>
      <p:sp>
        <p:nvSpPr>
          <p:cNvPr id="2761" name="e"/>
          <p:cNvSpPr/>
          <p:nvPr/>
        </p:nvSpPr>
        <p:spPr>
          <a:xfrm>
            <a:off x="14288000" y="6200000"/>
            <a:ext cx="1000000" cy="1000000"/>
          </a:xfrm>
          <a:prstGeom prst="ellipse">
            <a:avLst/>
          </a:prstGeom>
          <a:solidFill>
            <a:srgbClr val="FFD6D6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🔑</a:t>
            </a:r>
          </a:p>
        </p:txBody>
      </p:sp>
      <p:sp>
        <p:nvSpPr>
          <p:cNvPr id="2762" name="t"/>
          <p:cNvSpPr txBox="1"/>
          <p:nvPr/>
        </p:nvSpPr>
        <p:spPr>
          <a:xfrm>
            <a:off x="12388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D14B4B"/>
                </a:solidFill>
                <a:latin typeface="Roboto"/>
              </a:rPr>
              <a:t>Auditoría</a:t>
            </a:r>
          </a:p>
        </p:txBody>
      </p:sp>
      <p:sp>
        <p:nvSpPr>
          <p:cNvPr id="2763" name="t"/>
          <p:cNvSpPr txBox="1"/>
          <p:nvPr/>
        </p:nvSpPr>
        <p:spPr>
          <a:xfrm>
            <a:off x="12388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Fechas y usuarios guardados en automático.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71290CC759522429B105456B3C74D4E" ma:contentTypeVersion="18" ma:contentTypeDescription="Crear nuevo documento." ma:contentTypeScope="" ma:versionID="b16921caaa352d6c6b40a35a64dd15dd">
  <xsd:schema xmlns:xsd="http://www.w3.org/2001/XMLSchema" xmlns:xs="http://www.w3.org/2001/XMLSchema" xmlns:p="http://schemas.microsoft.com/office/2006/metadata/properties" xmlns:ns2="b45a8c2e-09b1-4064-bb7e-0e2948b15800" xmlns:ns3="f893cdd1-18a6-49f9-8410-ff8a75fa096f" targetNamespace="http://schemas.microsoft.com/office/2006/metadata/properties" ma:root="true" ma:fieldsID="cc2b95a57930b236afc96f125766a762" ns2:_="" ns3:_="">
    <xsd:import namespace="b45a8c2e-09b1-4064-bb7e-0e2948b15800"/>
    <xsd:import namespace="f893cdd1-18a6-49f9-8410-ff8a75fa09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a8c2e-09b1-4064-bb7e-0e2948b158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ac0ade2b-fa97-451f-b1a9-747194817b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3cdd1-18a6-49f9-8410-ff8a75fa096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5c9644d-ae6b-4749-accb-1586901e3ac7}" ma:internalName="TaxCatchAll" ma:showField="CatchAllData" ma:web="f893cdd1-18a6-49f9-8410-ff8a75fa09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93cdd1-18a6-49f9-8410-ff8a75fa096f" xsi:nil="true"/>
    <lcf76f155ced4ddcb4097134ff3c332f xmlns="b45a8c2e-09b1-4064-bb7e-0e2948b1580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DDEF5603-70E4-4BC1-A1F1-931CCD42AE99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a8c2e-09b1-4064-bb7e-0e2948b15800"/>
    <ds:schemaRef ds:uri="f893cdd1-18a6-49f9-8410-ff8a75fa0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FFAB2F5F-24C6-4839-9804-B0AC03D21AC2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835F4B21-4188-47AC-8D98-85563D194352">
  <ds:schemaRefs>
    <ds:schemaRef ds:uri="http://schemas.microsoft.com/office/2006/metadata/properties"/>
    <ds:schemaRef ds:uri="http://schemas.microsoft.com/office/infopath/2007/PartnerControls"/>
    <ds:schemaRef ds:uri="f893cdd1-18a6-49f9-8410-ff8a75fa096f"/>
    <ds:schemaRef ds:uri="b45a8c2e-09b1-4064-bb7e-0e2948b15800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Proyecto Arquitectónico Minimalista Blanco y Negro</dc:title>
  <dc:creator>Enrique Huaman</dc:creator>
  <dc:identifier>DAGwiwYUdeU</dc:identifier>
  <cp:lastModifiedBy/>
  <cp:revision>59</cp:revision>
  <dcterms:created xsi:type="dcterms:W3CDTF">2006-08-16T00:00:00Z</dcterms:created>
  <dcterms:modified xsi:type="dcterms:W3CDTF">2026-05-24T07:38:20Z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0x010100171290CC759522429B105456B3C74D4E</vt:lpwstr>
  </property>
</Properties>
</file>