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61" r:id="rId12"/>
    <p:sldId id="262" r:id="rId13"/>
    <p:sldId id="263" r:id="rId14"/>
  </p:sldIdLst>
  <p:sldSz cx="18288000" cy="10287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6" d="100"/>
          <a:sy n="16" d="100"/>
        </p:scale>
        <p:origin x="858" y="25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029517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1857553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E7084CA-3DB8-45DC-8AD8-9E56A343B3BC}" type="datetimeFigureOut">
              <a:rPr lang="es-ES"/>
              <a:t>26/02/2026</a:t>
            </a:fld>
            <a:endParaRPr lang="es-ES"/>
          </a:p>
        </p:txBody>
      </p:sp>
      <p:sp>
        <p:nvSpPr>
          <p:cNvPr id="1831933791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002091996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3895294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24939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E047963-003F-451B-AA32-8837B58ED770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62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701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94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6C018-A453-C2A7-E90A-6D73B4BE2E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9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913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1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C2BFE4-113C-16A9-46BC-521925363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95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437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54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8E95A-3D9C-DB7C-67BA-937240A4F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73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9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96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69992-1612-E231-2E50-CEF3DB79C3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1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607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82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7882C-EA35-FF54-8897-ECD08444CE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121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67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9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B30468-729D-BD5A-C039-A7053A464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087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510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99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B365B0-6DCD-3023-AAFC-26DA05F28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99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58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92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8BE6F0-4DF0-1A39-737F-5436869D53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86292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870766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831979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257962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7706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002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217940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61289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2114532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230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46823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295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177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727561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26644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48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88342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9073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71926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21051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25855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489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70307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51175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32152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26252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08600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9369232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325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99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1548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7895974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534743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26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86358325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25747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2798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547715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40838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71971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11953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89708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3157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509114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256470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574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449257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091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44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160516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13305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0605029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7845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1875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83306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2691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18660507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2155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5410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9382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35601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108341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48380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382230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895975050" name="Group 3"/>
          <p:cNvGrpSpPr/>
          <p:nvPr/>
        </p:nvGrpSpPr>
        <p:grpSpPr bwMode="auto">
          <a:xfrm>
            <a:off x="10465866" y="-108420"/>
            <a:ext cx="7992925" cy="105038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4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272809880" name="Group 5"/>
          <p:cNvGrpSpPr/>
          <p:nvPr/>
        </p:nvGrpSpPr>
        <p:grpSpPr bwMode="auto">
          <a:xfrm>
            <a:off x="193204" y="136418"/>
            <a:ext cx="4566505" cy="1536415"/>
            <a:chOff x="0" y="0"/>
            <a:chExt cx="4944796" cy="1483439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1012875942" name="Freeform 8"/>
          <p:cNvSpPr/>
          <p:nvPr/>
        </p:nvSpPr>
        <p:spPr bwMode="auto">
          <a:xfrm>
            <a:off x="13837876" y="6183764"/>
            <a:ext cx="1099807" cy="324062"/>
          </a:xfrm>
          <a:custGeom>
            <a:avLst/>
            <a:gdLst/>
            <a:ahLst/>
            <a:cxnLst/>
            <a:rect l="l" t="t" r="r" b="b"/>
            <a:pathLst>
              <a:path w="1099807" h="324062" fill="norm" stroke="1" extrusionOk="0">
                <a:moveTo>
                  <a:pt x="0" y="0"/>
                </a:moveTo>
                <a:lnTo>
                  <a:pt x="1099807" y="0"/>
                </a:lnTo>
                <a:lnTo>
                  <a:pt x="1099807" y="324062"/>
                </a:lnTo>
                <a:lnTo>
                  <a:pt x="0" y="324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-14632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1288211233" name="Freeform 9"/>
          <p:cNvSpPr/>
          <p:nvPr/>
        </p:nvSpPr>
        <p:spPr bwMode="auto">
          <a:xfrm>
            <a:off x="13765201" y="7561751"/>
            <a:ext cx="970596" cy="340395"/>
          </a:xfrm>
          <a:custGeom>
            <a:avLst/>
            <a:gdLst/>
            <a:ahLst/>
            <a:cxnLst/>
            <a:rect l="l" t="t" r="r" b="b"/>
            <a:pathLst>
              <a:path w="970596" h="340395" fill="norm" stroke="1" extrusionOk="0">
                <a:moveTo>
                  <a:pt x="0" y="0"/>
                </a:moveTo>
                <a:lnTo>
                  <a:pt x="970596" y="0"/>
                </a:lnTo>
                <a:lnTo>
                  <a:pt x="970596" y="340395"/>
                </a:lnTo>
                <a:lnTo>
                  <a:pt x="0" y="340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-18734" t="-62458" r="-18444" b="-57704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09775544" name="Freeform 10"/>
          <p:cNvSpPr/>
          <p:nvPr/>
        </p:nvSpPr>
        <p:spPr bwMode="auto">
          <a:xfrm>
            <a:off x="14906722" y="7205876"/>
            <a:ext cx="374698" cy="441513"/>
          </a:xfrm>
          <a:custGeom>
            <a:avLst/>
            <a:gdLst/>
            <a:ahLst/>
            <a:cxnLst/>
            <a:rect l="l" t="t" r="r" b="b"/>
            <a:pathLst>
              <a:path w="374698" h="441513" fill="norm" stroke="1" extrusionOk="0">
                <a:moveTo>
                  <a:pt x="0" y="0"/>
                </a:moveTo>
                <a:lnTo>
                  <a:pt x="374698" y="0"/>
                </a:lnTo>
                <a:lnTo>
                  <a:pt x="374698" y="441514"/>
                </a:lnTo>
                <a:lnTo>
                  <a:pt x="0" y="441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-34454" t="0" r="-2875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62777268" name="Freeform 11"/>
          <p:cNvSpPr/>
          <p:nvPr/>
        </p:nvSpPr>
        <p:spPr bwMode="auto">
          <a:xfrm>
            <a:off x="14908451" y="6686170"/>
            <a:ext cx="830612" cy="278574"/>
          </a:xfrm>
          <a:custGeom>
            <a:avLst/>
            <a:gdLst/>
            <a:ahLst/>
            <a:cxnLst/>
            <a:rect l="l" t="t" r="r" b="b"/>
            <a:pathLst>
              <a:path w="830612" h="278574" fill="norm" stroke="1" extrusionOk="0">
                <a:moveTo>
                  <a:pt x="0" y="0"/>
                </a:moveTo>
                <a:lnTo>
                  <a:pt x="830611" y="0"/>
                </a:lnTo>
                <a:lnTo>
                  <a:pt x="830611" y="278574"/>
                </a:lnTo>
                <a:lnTo>
                  <a:pt x="0" y="278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2038686430" name="Freeform 12"/>
          <p:cNvSpPr/>
          <p:nvPr/>
        </p:nvSpPr>
        <p:spPr bwMode="auto">
          <a:xfrm>
            <a:off x="13185597" y="6686170"/>
            <a:ext cx="776761" cy="526831"/>
          </a:xfrm>
          <a:custGeom>
            <a:avLst/>
            <a:gdLst/>
            <a:ahLst/>
            <a:cxnLst/>
            <a:rect l="l" t="t" r="r" b="b"/>
            <a:pathLst>
              <a:path w="776761" h="526831" fill="norm" stroke="1" extrusionOk="0">
                <a:moveTo>
                  <a:pt x="0" y="0"/>
                </a:moveTo>
                <a:lnTo>
                  <a:pt x="776761" y="0"/>
                </a:lnTo>
                <a:lnTo>
                  <a:pt x="776761" y="526830"/>
                </a:lnTo>
                <a:lnTo>
                  <a:pt x="0" y="526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880406290" name="Freeform 13"/>
          <p:cNvSpPr/>
          <p:nvPr/>
        </p:nvSpPr>
        <p:spPr bwMode="auto">
          <a:xfrm>
            <a:off x="14000458" y="6596608"/>
            <a:ext cx="869893" cy="869893"/>
          </a:xfrm>
          <a:custGeom>
            <a:avLst/>
            <a:gdLst/>
            <a:ahLst/>
            <a:cxnLst/>
            <a:rect l="l" t="t" r="r" b="b"/>
            <a:pathLst>
              <a:path w="869893" h="869893" fill="norm" stroke="1" extrusionOk="0">
                <a:moveTo>
                  <a:pt x="0" y="0"/>
                </a:moveTo>
                <a:lnTo>
                  <a:pt x="869893" y="0"/>
                </a:lnTo>
                <a:lnTo>
                  <a:pt x="869893" y="869893"/>
                </a:lnTo>
                <a:lnTo>
                  <a:pt x="0" y="869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387793302" name="Group 14"/>
          <p:cNvGrpSpPr/>
          <p:nvPr/>
        </p:nvGrpSpPr>
        <p:grpSpPr bwMode="auto">
          <a:xfrm>
            <a:off x="7620000" y="-220352"/>
            <a:ext cx="21126247" cy="11078852"/>
            <a:chOff x="0" y="-137758"/>
            <a:chExt cx="7437183" cy="3900146"/>
          </a:xfrm>
        </p:grpSpPr>
        <p:sp>
          <p:nvSpPr>
            <p:cNvPr id="15" name="Freeform 15"/>
            <p:cNvSpPr/>
            <p:nvPr/>
          </p:nvSpPr>
          <p:spPr bwMode="auto">
            <a:xfrm>
              <a:off x="999163" y="-137758"/>
              <a:ext cx="6438020" cy="3900146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20604944" name="Group 17"/>
          <p:cNvGrpSpPr>
            <a:grpSpLocks noChangeAspect="1"/>
          </p:cNvGrpSpPr>
          <p:nvPr/>
        </p:nvGrpSpPr>
        <p:grpSpPr bwMode="auto">
          <a:xfrm rot="-5400000">
            <a:off x="9373087" y="1023039"/>
            <a:ext cx="2185559" cy="736237"/>
            <a:chOff x="0" y="0"/>
            <a:chExt cx="1231938" cy="414998"/>
          </a:xfrm>
        </p:grpSpPr>
        <p:sp>
          <p:nvSpPr>
            <p:cNvPr id="18" name="Freeform 1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6144456" name="TextBox 21"/>
          <p:cNvSpPr txBox="1"/>
          <p:nvPr/>
        </p:nvSpPr>
        <p:spPr bwMode="auto">
          <a:xfrm>
            <a:off x="1028700" y="4977357"/>
            <a:ext cx="8579699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36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Desarrollo Full Stack con C# y Angular</a:t>
            </a:r>
            <a:endParaRPr/>
          </a:p>
        </p:txBody>
      </p:sp>
      <p:sp>
        <p:nvSpPr>
          <p:cNvPr id="1041271674" name="TextBox 22"/>
          <p:cNvSpPr txBox="1"/>
          <p:nvPr/>
        </p:nvSpPr>
        <p:spPr bwMode="auto">
          <a:xfrm>
            <a:off x="1047750" y="4132744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5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Curso</a:t>
            </a:r>
            <a:endParaRPr/>
          </a:p>
        </p:txBody>
      </p:sp>
      <p:sp>
        <p:nvSpPr>
          <p:cNvPr id="730032275" name="CuadroTexto 22"/>
          <p:cNvSpPr txBox="1"/>
          <p:nvPr/>
        </p:nvSpPr>
        <p:spPr bwMode="auto">
          <a:xfrm>
            <a:off x="1010832" y="6530499"/>
            <a:ext cx="8762874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PE" sz="3200">
                <a:solidFill>
                  <a:srgbClr val="EE6D14"/>
                </a:solidFill>
              </a:rPr>
              <a:t>Docente:  </a:t>
            </a:r>
            <a:r>
              <a:rPr lang="es-ES" sz="3200">
                <a:solidFill>
                  <a:srgbClr val="EE6D14"/>
                </a:solidFill>
              </a:rPr>
              <a:t>Edwin Barrientos</a:t>
            </a:r>
            <a:endParaRPr/>
          </a:p>
        </p:txBody>
      </p:sp>
      <p:cxnSp>
        <p:nvCxnSpPr>
          <p:cNvPr id="500389679" name="Conector recto 24"/>
          <p:cNvCxnSpPr/>
          <p:nvPr/>
        </p:nvCxnSpPr>
        <p:spPr bwMode="auto">
          <a:xfrm>
            <a:off x="1047750" y="6610183"/>
            <a:ext cx="8096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9007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940281398" name="Group 3"/>
          <p:cNvGrpSpPr/>
          <p:nvPr/>
        </p:nvGrpSpPr>
        <p:grpSpPr bwMode="auto">
          <a:xfrm>
            <a:off x="-187438" y="4377398"/>
            <a:ext cx="18662876" cy="6009477"/>
            <a:chOff x="0" y="0"/>
            <a:chExt cx="2891368" cy="93102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2891368" cy="931025"/>
            </a:xfrm>
            <a:custGeom>
              <a:avLst/>
              <a:gdLst/>
              <a:ahLst/>
              <a:cxnLst/>
              <a:rect l="l" t="t" r="r" b="b"/>
              <a:pathLst>
                <a:path w="2891368" h="931025" fill="norm" stroke="1" extrusionOk="0">
                  <a:moveTo>
                    <a:pt x="0" y="0"/>
                  </a:moveTo>
                  <a:lnTo>
                    <a:pt x="2891368" y="0"/>
                  </a:lnTo>
                  <a:lnTo>
                    <a:pt x="2891368" y="931025"/>
                  </a:lnTo>
                  <a:lnTo>
                    <a:pt x="0" y="931025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24535" r="0" b="-49941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288659993" name="TextBox 8"/>
          <p:cNvSpPr txBox="1"/>
          <p:nvPr/>
        </p:nvSpPr>
        <p:spPr bwMode="auto">
          <a:xfrm>
            <a:off x="1109269" y="1419709"/>
            <a:ext cx="16587931" cy="160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598"/>
              </a:lnSpc>
              <a:defRPr/>
            </a:pPr>
            <a:r>
              <a:rPr lang="es-ES" sz="48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Repositorios, Servicios y CRUD</a:t>
            </a:r>
            <a:endParaRPr/>
          </a:p>
        </p:txBody>
      </p:sp>
      <p:grpSp>
        <p:nvGrpSpPr>
          <p:cNvPr id="894212724" name="Group 9"/>
          <p:cNvGrpSpPr/>
          <p:nvPr/>
        </p:nvGrpSpPr>
        <p:grpSpPr bwMode="auto">
          <a:xfrm>
            <a:off x="0" y="4377398"/>
            <a:ext cx="18288000" cy="8144679"/>
            <a:chOff x="0" y="0"/>
            <a:chExt cx="6438020" cy="2867214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6438020" cy="2867214"/>
            </a:xfrm>
            <a:custGeom>
              <a:avLst/>
              <a:gdLst/>
              <a:ahLst/>
              <a:cxnLst/>
              <a:rect l="l" t="t" r="r" b="b"/>
              <a:pathLst>
                <a:path w="6438020" h="286721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2867214"/>
                  </a:lnTo>
                  <a:lnTo>
                    <a:pt x="0" y="286721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7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66675"/>
              <a:ext cx="6438020" cy="293388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grpSp>
        <p:nvGrpSpPr>
          <p:cNvPr id="1184583054" name="Group 12"/>
          <p:cNvGrpSpPr>
            <a:grpSpLocks noChangeAspect="1"/>
          </p:cNvGrpSpPr>
          <p:nvPr/>
        </p:nvGrpSpPr>
        <p:grpSpPr bwMode="auto">
          <a:xfrm>
            <a:off x="1028700" y="4009279"/>
            <a:ext cx="2185559" cy="736237"/>
            <a:chOff x="0" y="0"/>
            <a:chExt cx="1231938" cy="414998"/>
          </a:xfrm>
        </p:grpSpPr>
        <p:sp>
          <p:nvSpPr>
            <p:cNvPr id="13" name="Freeform 13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8291645" name="TextBox 16"/>
          <p:cNvSpPr txBox="1"/>
          <p:nvPr/>
        </p:nvSpPr>
        <p:spPr bwMode="auto">
          <a:xfrm>
            <a:off x="1192558" y="807558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5 — Módulo 2:</a:t>
            </a:r>
            <a:endParaRPr/>
          </a:p>
        </p:txBody>
      </p:sp>
      <p:grpSp>
        <p:nvGrpSpPr>
          <p:cNvPr id="1813962660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8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9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839590268" name="Rectángulo 4"/>
          <p:cNvSpPr/>
          <p:nvPr/>
        </p:nvSpPr>
        <p:spPr bwMode="auto">
          <a:xfrm>
            <a:off x="2376945" y="5143500"/>
            <a:ext cx="13396454" cy="372379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PE"/>
          </a:p>
        </p:txBody>
      </p:sp>
      <p:sp>
        <p:nvSpPr>
          <p:cNvPr id="1563960745" name="TextBox 8"/>
          <p:cNvSpPr txBox="1"/>
          <p:nvPr/>
        </p:nvSpPr>
        <p:spPr bwMode="auto">
          <a:xfrm>
            <a:off x="3080514" y="5858181"/>
            <a:ext cx="12001084" cy="48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PE" sz="3200" b="1">
                <a:latin typeface="Poppins"/>
                <a:cs typeface="Poppins"/>
              </a:rPr>
              <a:t>Objetivo del módulo: </a:t>
            </a:r>
            <a:r>
              <a:rPr lang="es-ES" sz="3200" b="1">
                <a:latin typeface="Poppins"/>
                <a:cs typeface="Poppins"/>
              </a:rPr>
              <a:t>implementar la capa de aplicación y acceso a datos mediante los patrones Repository y Unit of Work, construyendo endpoints REST con paginación y filtros.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68399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907739783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475912823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grpSp>
        <p:nvGrpSpPr>
          <p:cNvPr id="1824530624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6892021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  <p:sp>
        <p:nvSpPr>
          <p:cNvPr id="1610241063" name="TextBox 4"/>
          <p:cNvSpPr txBox="1"/>
          <p:nvPr/>
        </p:nvSpPr>
        <p:spPr bwMode="auto">
          <a:xfrm>
            <a:off x="9594256" y="2551515"/>
            <a:ext cx="6909292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Agenda</a:t>
            </a:r>
            <a:endParaRPr/>
          </a:p>
        </p:txBody>
      </p:sp>
      <p:sp>
        <p:nvSpPr>
          <p:cNvPr id="1060153805" name="CuadroTexto 5"/>
          <p:cNvSpPr txBox="1"/>
          <p:nvPr/>
        </p:nvSpPr>
        <p:spPr bwMode="auto">
          <a:xfrm>
            <a:off x="9594255" y="3186160"/>
            <a:ext cx="7191703" cy="82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  <a:defRPr/>
            </a:pPr>
            <a:r>
              <a:rPr lang="es-ES" sz="2800"/>
              <a:t>Patrón Repository: Desacoplando la lógica de negocio de EF Core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Patrón Unit of Work: Consistencia transaccional entre repositorios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Servicios de Aplicación y DTOs: Contratos públicos seguros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Endpoints CRUD completos en ASP.NET Core Web API</a:t>
            </a: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</a:pPr>
            <a:r>
              <a:rPr lang="es-ES" sz="2800"/>
              <a:t>Paginación, filtrado dinámico y ordenamiento profesional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60267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22520221" name="Group 9"/>
          <p:cNvGrpSpPr>
            <a:grpSpLocks noChangeAspect="1"/>
          </p:cNvGrpSpPr>
          <p:nvPr/>
        </p:nvGrpSpPr>
        <p:grpSpPr bwMode="auto">
          <a:xfrm>
            <a:off x="15073741" y="8522063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01682865" name="Group 5"/>
          <p:cNvGrpSpPr/>
          <p:nvPr/>
        </p:nvGrpSpPr>
        <p:grpSpPr bwMode="auto">
          <a:xfrm>
            <a:off x="13363459" y="187945"/>
            <a:ext cx="4566505" cy="1536415"/>
            <a:chOff x="0" y="0"/>
            <a:chExt cx="4944796" cy="1483439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4944796" cy="1483439"/>
            </a:xfrm>
            <a:custGeom>
              <a:avLst/>
              <a:gdLst/>
              <a:ahLst/>
              <a:cxnLst/>
              <a:rect l="l" t="t" r="r" b="b"/>
              <a:pathLst>
                <a:path w="4944796" h="1483439" fill="norm" stroke="1" extrusionOk="0">
                  <a:moveTo>
                    <a:pt x="0" y="0"/>
                  </a:moveTo>
                  <a:lnTo>
                    <a:pt x="4944796" y="0"/>
                  </a:lnTo>
                  <a:lnTo>
                    <a:pt x="4944796" y="1483439"/>
                  </a:lnTo>
                  <a:lnTo>
                    <a:pt x="0" y="14834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6" name="TextBox 7"/>
            <p:cNvSpPr txBox="1"/>
            <p:nvPr/>
          </p:nvSpPr>
          <p:spPr bwMode="auto">
            <a:xfrm>
              <a:off x="1853847" y="982097"/>
              <a:ext cx="2696483" cy="297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7"/>
                </a:lnSpc>
                <a:spcBef>
                  <a:spcPts val="0"/>
                </a:spcBef>
                <a:defRPr/>
              </a:pPr>
              <a:r>
                <a:rPr lang="es-PE" sz="1300">
                  <a:solidFill>
                    <a:srgbClr val="024B98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</p:grpSp>
      <p:sp>
        <p:nvSpPr>
          <p:cNvPr id="95691980" name="TextBox 8"/>
          <p:cNvSpPr txBox="1"/>
          <p:nvPr/>
        </p:nvSpPr>
        <p:spPr bwMode="auto">
          <a:xfrm>
            <a:off x="9358416" y="4156678"/>
            <a:ext cx="8234999" cy="82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defRPr/>
            </a:pPr>
            <a:r>
              <a:rPr lang="es-ES" sz="5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Repositorios, Servicios y CRUD</a:t>
            </a:r>
            <a:endParaRPr/>
          </a:p>
        </p:txBody>
      </p:sp>
      <p:sp>
        <p:nvSpPr>
          <p:cNvPr id="946765375" name="TextBox 16"/>
          <p:cNvSpPr txBox="1"/>
          <p:nvPr/>
        </p:nvSpPr>
        <p:spPr bwMode="auto">
          <a:xfrm>
            <a:off x="9340832" y="2773767"/>
            <a:ext cx="11028475" cy="110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00"/>
              </a:lnSpc>
              <a:defRPr/>
            </a:pPr>
            <a:r>
              <a:rPr lang="es-PE" sz="6000" b="1">
                <a:solidFill>
                  <a:srgbClr val="F57D30"/>
                </a:solidFill>
                <a:latin typeface="Poppins Bold"/>
                <a:ea typeface="Poppins Bold"/>
                <a:cs typeface="Poppins Bold"/>
              </a:rPr>
              <a:t>Sesión 1:</a:t>
            </a:r>
            <a:endParaRPr/>
          </a:p>
        </p:txBody>
      </p:sp>
      <p:grpSp>
        <p:nvGrpSpPr>
          <p:cNvPr id="93758389" name="Group 3"/>
          <p:cNvGrpSpPr/>
          <p:nvPr/>
        </p:nvGrpSpPr>
        <p:grpSpPr bwMode="auto">
          <a:xfrm>
            <a:off x="-304800" y="-216840"/>
            <a:ext cx="8504210" cy="10999140"/>
            <a:chOff x="0" y="0"/>
            <a:chExt cx="1238312" cy="1627320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1238312" cy="1627320"/>
            </a:xfrm>
            <a:custGeom>
              <a:avLst/>
              <a:gdLst/>
              <a:ahLst/>
              <a:cxnLst/>
              <a:rect l="l" t="t" r="r" b="b"/>
              <a:pathLst>
                <a:path w="1238313" h="1627320" fill="norm" stroke="1" extrusionOk="0">
                  <a:moveTo>
                    <a:pt x="0" y="0"/>
                  </a:moveTo>
                  <a:lnTo>
                    <a:pt x="1238313" y="0"/>
                  </a:lnTo>
                  <a:lnTo>
                    <a:pt x="1238313" y="1627320"/>
                  </a:lnTo>
                  <a:lnTo>
                    <a:pt x="0" y="1627320"/>
                  </a:lnTo>
                  <a:close/>
                </a:path>
              </a:pathLst>
            </a:custGeom>
            <a:blipFill rotWithShape="1">
              <a:blip r:embed="rId5"/>
              <a:stretch>
                <a:fillRect l="-66954" t="0" r="-66954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509716494" name="Group 14"/>
          <p:cNvGrpSpPr/>
          <p:nvPr/>
        </p:nvGrpSpPr>
        <p:grpSpPr bwMode="auto">
          <a:xfrm>
            <a:off x="-1651256" y="-216840"/>
            <a:ext cx="10309690" cy="10999140"/>
            <a:chOff x="0" y="0"/>
            <a:chExt cx="6438020" cy="3659554"/>
          </a:xfrm>
        </p:grpSpPr>
        <p:sp>
          <p:nvSpPr>
            <p:cNvPr id="21" name="Freeform 15"/>
            <p:cNvSpPr/>
            <p:nvPr/>
          </p:nvSpPr>
          <p:spPr bwMode="auto">
            <a:xfrm>
              <a:off x="0" y="0"/>
              <a:ext cx="6438020" cy="3659554"/>
            </a:xfrm>
            <a:custGeom>
              <a:avLst/>
              <a:gdLst/>
              <a:ahLst/>
              <a:cxnLst/>
              <a:rect l="l" t="t" r="r" b="b"/>
              <a:pathLst>
                <a:path w="6438020" h="3659554" fill="norm" stroke="1" extrusionOk="0">
                  <a:moveTo>
                    <a:pt x="0" y="0"/>
                  </a:moveTo>
                  <a:lnTo>
                    <a:pt x="6438020" y="0"/>
                  </a:lnTo>
                  <a:lnTo>
                    <a:pt x="6438020" y="3659554"/>
                  </a:lnTo>
                  <a:lnTo>
                    <a:pt x="0" y="3659554"/>
                  </a:lnTo>
                  <a:close/>
                </a:path>
              </a:pathLst>
            </a:custGeom>
            <a:gradFill>
              <a:gsLst>
                <a:gs pos="0">
                  <a:srgbClr val="D8EEF9">
                    <a:alpha val="6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22" name="TextBox 16"/>
            <p:cNvSpPr txBox="1"/>
            <p:nvPr/>
          </p:nvSpPr>
          <p:spPr bwMode="auto">
            <a:xfrm>
              <a:off x="0" y="-66675"/>
              <a:ext cx="6438020" cy="3726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¿Por qué desacoplar el acceso a datos?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Clean Architecture en acción: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la lógica de negocio no debe casarse con la tecnología de base de datos. Si mañana cambiamos de ORM o de motor, el núcleo de la empresa no se entera.</a:t>
            </a:r>
          </a:p>
        </p:txBody>
      </p:sp>
      <p:sp>
        <p:nvSpPr>
          <p:cNvPr id="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🎯</a:t>
            </a:r>
          </a:p>
        </p:txBody>
      </p:sp>
      <p:sp>
        <p:nvSpPr>
          <p:cNvPr id="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Testabilidad total</a:t>
            </a:r>
          </a:p>
        </p:txBody>
      </p:sp>
      <p:sp>
        <p:nvSpPr>
          <p:cNvPr id="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Pruebas unitarias de servicios usando mocks en memoria sin levantar bases de datos.</a:t>
            </a:r>
          </a:p>
        </p:txBody>
      </p:sp>
      <p:sp>
        <p:nvSpPr>
          <p:cNvPr id="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👁</a:t>
            </a:r>
          </a:p>
        </p:txBody>
      </p:sp>
      <p:sp>
        <p:nvSpPr>
          <p:cNvPr id="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Consultas limpias</a:t>
            </a:r>
          </a:p>
        </p:txBody>
      </p:sp>
      <p:sp>
        <p:nvSpPr>
          <p:cNvPr id="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Centraliza la lógica de filtrado y ordenamiento en un único lugar reutilizable.</a:t>
            </a:r>
          </a:p>
        </p:txBody>
      </p:sp>
      <p:sp>
        <p:nvSpPr>
          <p:cNvPr id="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🧩</a:t>
            </a:r>
          </a:p>
        </p:txBody>
      </p:sp>
      <p:sp>
        <p:nvSpPr>
          <p:cNvPr id="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Límites claros</a:t>
            </a:r>
          </a:p>
        </p:txBody>
      </p:sp>
      <p:sp>
        <p:nvSpPr>
          <p:cNvPr id="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El controlador atiende HTTP, el servicio orquesta y el repositorio persiste.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2495916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3955894" name="TextBox 5"/>
          <p:cNvSpPr txBox="1"/>
          <p:nvPr/>
        </p:nvSpPr>
        <p:spPr bwMode="auto">
          <a:xfrm>
            <a:off x="1295400" y="795278"/>
            <a:ext cx="8751602" cy="52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PREGUNTAS…</a:t>
            </a:r>
            <a:endParaRPr/>
          </a:p>
        </p:txBody>
      </p:sp>
      <p:grpSp>
        <p:nvGrpSpPr>
          <p:cNvPr id="1297811220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1140021134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1884417158" name="CuadroTexto 1"/>
          <p:cNvSpPr txBox="1"/>
          <p:nvPr/>
        </p:nvSpPr>
        <p:spPr bwMode="auto">
          <a:xfrm>
            <a:off x="1524135" y="2738232"/>
            <a:ext cx="15245486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s-ES" sz="2600" b="1">
                <a:latin typeface="Roboto"/>
              </a:rPr>
              <a:t>¿Por qué usar Repositorios si EF Core ya implementa DbContext y DbSet?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ventaja nos da el Unit of Work frente a llamar SaveChanges en cada repositorio?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¿Por qué nunca debemos devolver una entidad del dominio directamente al frontend?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¿Cómo implementamos paginación eficiente sin traer miles de filas a memoria?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600" b="1">
                <a:latin typeface="Roboto"/>
              </a:rPr>
              <a:t>¿Qué ciclo de vida de DI (Scoped, Transient, Singleton) debe tener cada componente?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7057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sp>
        <p:nvSpPr>
          <p:cNvPr id="33220437" name="TextBox 3"/>
          <p:cNvSpPr txBox="1"/>
          <p:nvPr/>
        </p:nvSpPr>
        <p:spPr bwMode="auto">
          <a:xfrm>
            <a:off x="5826929" y="1152525"/>
            <a:ext cx="5560289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defRPr/>
            </a:pPr>
            <a:r>
              <a:rPr lang="es-PE" sz="50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Conclusiones</a:t>
            </a:r>
            <a:endParaRPr/>
          </a:p>
        </p:txBody>
      </p:sp>
      <p:grpSp>
        <p:nvGrpSpPr>
          <p:cNvPr id="914401435" name="Group 4"/>
          <p:cNvGrpSpPr/>
          <p:nvPr/>
        </p:nvGrpSpPr>
        <p:grpSpPr bwMode="auto">
          <a:xfrm>
            <a:off x="0" y="1"/>
            <a:ext cx="4542912" cy="10287000"/>
            <a:chOff x="0" y="0"/>
            <a:chExt cx="1365125" cy="2989053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365125" cy="2989053"/>
            </a:xfrm>
            <a:custGeom>
              <a:avLst/>
              <a:gdLst/>
              <a:ahLst/>
              <a:cxnLst/>
              <a:rect l="l" t="t" r="r" b="b"/>
              <a:pathLst>
                <a:path w="1365125" h="2989053" fill="norm" stroke="1" extrusionOk="0">
                  <a:moveTo>
                    <a:pt x="0" y="0"/>
                  </a:moveTo>
                  <a:lnTo>
                    <a:pt x="1365125" y="0"/>
                  </a:lnTo>
                  <a:lnTo>
                    <a:pt x="1365125" y="2989053"/>
                  </a:lnTo>
                  <a:lnTo>
                    <a:pt x="0" y="2989053"/>
                  </a:lnTo>
                  <a:close/>
                </a:path>
              </a:pathLst>
            </a:custGeom>
            <a:blipFill rotWithShape="1">
              <a:blip r:embed="rId4"/>
              <a:stretch>
                <a:fillRect l="-144629" t="0" r="-144629" b="0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770516098" name="Group 7"/>
          <p:cNvGrpSpPr>
            <a:grpSpLocks noChangeAspect="1"/>
          </p:cNvGrpSpPr>
          <p:nvPr/>
        </p:nvGrpSpPr>
        <p:grpSpPr bwMode="auto">
          <a:xfrm rot="-5400000">
            <a:off x="3450133" y="1216207"/>
            <a:ext cx="2185559" cy="736237"/>
            <a:chOff x="0" y="0"/>
            <a:chExt cx="1231938" cy="414998"/>
          </a:xfrm>
        </p:grpSpPr>
        <p:sp>
          <p:nvSpPr>
            <p:cNvPr id="8" name="Freeform 8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grpSp>
        <p:nvGrpSpPr>
          <p:cNvPr id="39397620" name="Group 11"/>
          <p:cNvGrpSpPr/>
          <p:nvPr/>
        </p:nvGrpSpPr>
        <p:grpSpPr bwMode="auto">
          <a:xfrm>
            <a:off x="215779" y="293877"/>
            <a:ext cx="3796083" cy="1442140"/>
            <a:chOff x="0" y="0"/>
            <a:chExt cx="3731719" cy="1122625"/>
          </a:xfrm>
        </p:grpSpPr>
        <p:sp>
          <p:nvSpPr>
            <p:cNvPr id="12" name="TextBox 12"/>
            <p:cNvSpPr txBox="1"/>
            <p:nvPr/>
          </p:nvSpPr>
          <p:spPr bwMode="auto">
            <a:xfrm>
              <a:off x="1413024" y="749031"/>
              <a:ext cx="2055291" cy="22609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Poppins"/>
                  <a:ea typeface="Poppins"/>
                  <a:cs typeface="Poppins"/>
                </a:rPr>
                <a:t>Centro de Capacitación</a:t>
              </a:r>
              <a:endParaRPr/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7001" name="tp"/>
          <p:cNvSpPr txBox="1"/>
          <p:nvPr/>
        </p:nvSpPr>
        <p:spPr>
          <a:xfrm>
            <a:off x="5200000" y="2300000"/>
            <a:ext cx="12500000" cy="6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patrón Repository centraliza las consultas y permite probar la aplicación sin tocar la base de datos.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Unit of Work asegura que múltiples operaciones se guarden o fallen de manera atómica.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Los DTOs blindan nuestro modelo interno y adaptan los datos a las necesidades exactas del cliente.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 paginación con Skip y Take es obligatoria para proteger el rendimiento de la API.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✔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La inyección de dependencias Scoped mantiene el estado aislado por cada petición HTTP.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27346" name="Freeform 2"/>
          <p:cNvSpPr/>
          <p:nvPr/>
        </p:nvSpPr>
        <p:spPr bwMode="auto"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fill="norm" stroke="1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/>
            <a:stretch>
              <a:fillRect l="-75638" t="0" r="-75638" b="0"/>
            </a:stretch>
          </a:blipFill>
        </p:spPr>
        <p:txBody>
          <a:bodyPr/>
          <a:lstStyle/>
          <a:p>
            <a:pPr>
              <a:defRPr/>
            </a:pPr>
            <a:endParaRPr lang="es-PE"/>
          </a:p>
        </p:txBody>
      </p:sp>
      <p:grpSp>
        <p:nvGrpSpPr>
          <p:cNvPr id="1665207640" name="Group 3"/>
          <p:cNvGrpSpPr/>
          <p:nvPr/>
        </p:nvGrpSpPr>
        <p:grpSpPr bwMode="auto">
          <a:xfrm>
            <a:off x="-1" y="-1"/>
            <a:ext cx="18288001" cy="8226262"/>
            <a:chOff x="0" y="0"/>
            <a:chExt cx="5335253" cy="239055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335253" cy="2390552"/>
            </a:xfrm>
            <a:custGeom>
              <a:avLst/>
              <a:gdLst/>
              <a:ahLst/>
              <a:cxnLst/>
              <a:rect l="l" t="t" r="r" b="b"/>
              <a:pathLst>
                <a:path w="5335253" h="2390552" fill="norm" stroke="1" extrusionOk="0">
                  <a:moveTo>
                    <a:pt x="0" y="0"/>
                  </a:moveTo>
                  <a:lnTo>
                    <a:pt x="5335253" y="0"/>
                  </a:lnTo>
                  <a:lnTo>
                    <a:pt x="5335253" y="2390552"/>
                  </a:lnTo>
                  <a:lnTo>
                    <a:pt x="0" y="2390552"/>
                  </a:lnTo>
                  <a:close/>
                </a:path>
              </a:pathLst>
            </a:custGeom>
            <a:blipFill rotWithShape="1">
              <a:blip r:embed="rId4"/>
              <a:stretch>
                <a:fillRect l="0" t="-12769" r="0" b="-12769"/>
              </a:stretch>
            </a:blip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  <p:sp>
        <p:nvSpPr>
          <p:cNvPr id="596994680" name="TextBox 5"/>
          <p:cNvSpPr txBox="1"/>
          <p:nvPr/>
        </p:nvSpPr>
        <p:spPr bwMode="auto">
          <a:xfrm>
            <a:off x="4768199" y="4575175"/>
            <a:ext cx="8751602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defRPr/>
            </a:pPr>
            <a:r>
              <a:rPr lang="es-PE" sz="4000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GRACIAS</a:t>
            </a:r>
            <a:endParaRPr/>
          </a:p>
        </p:txBody>
      </p:sp>
      <p:grpSp>
        <p:nvGrpSpPr>
          <p:cNvPr id="1684371580" name="Group 6"/>
          <p:cNvGrpSpPr>
            <a:grpSpLocks noChangeAspect="1"/>
          </p:cNvGrpSpPr>
          <p:nvPr/>
        </p:nvGrpSpPr>
        <p:grpSpPr bwMode="auto">
          <a:xfrm>
            <a:off x="8051220" y="7858143"/>
            <a:ext cx="2185559" cy="736237"/>
            <a:chOff x="0" y="0"/>
            <a:chExt cx="1231938" cy="414998"/>
          </a:xfrm>
        </p:grpSpPr>
        <p:sp>
          <p:nvSpPr>
            <p:cNvPr id="7" name="Freeform 7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patrón Repository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Una colección en memoria simulada: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el repositorio expone métodos de colección que ocultan las sentencias SQL y la complejidad de EF Core.</a:t>
            </a:r>
          </a:p>
        </p:txBody>
      </p:sp>
      <p:sp>
        <p:nvSpPr>
          <p:cNvPr id="9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1F6FEB"/>
                </a:solidFill>
              </a:rPr>
              <a:t>IRepository&lt;T&gt;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Contrato genérico con operaciones comunes: ObtenerPorId, Listar, Agregar, Eliminar.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Repositorios específicos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ISolicitudRepository agrega métodos del dominio: ListarPorEstado, ObtenerConDetalles.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F57D30"/>
                </a:solidFill>
              </a:rPr>
              <a:t>Inversión de dependencias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Application define la interfaz y Infrastructure entrega la implementación concreta.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B3FD9"/>
                </a:solidFill>
              </a:rPr>
              <a:t>Sin SaveChanges directo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El repositorio no decide cuándo hacer commit: esa responsabilidad es del Unit of Work.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888888"/>
                </a:solidFill>
              </a:rPr>
              <a:t>●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Evita duplicar consultas complejas de LINQ a lo largo de varios controladores.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contrato IRepository genérico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IRepository.cs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interface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where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class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ObtenerPorIdAsync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ListarTodosAsync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AgregarAsync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entidad);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void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Actualizar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entidad);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void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Eliminar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entidad);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Actualizar y Eliminar son síncronos: marcan el estado en el ChangeTracker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Repositorio especializado del dominio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ISolicitudRepository.cs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interface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ListarPorSolicitanteAsync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usuarioId);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ListarPorEstadoAsync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estado);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Items,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Total)&gt;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ListarPaginadoAsync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pagina,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tamano,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EstadoSolicitud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 estado);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Implementación en Infrastructure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SolicitudRepository.cs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ISolicitudRepository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private readonly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SolicitudRepository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db) =&gt; _db = db;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ObtenerConDetallesAsync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id) =&gt;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_db.Solicitudes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Include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s.Solicitante)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Include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s.Detalles)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Include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s.Aprobaciones)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FirstOrDefaultAsync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s.Id == 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patrón Unit of Work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3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FFE9D6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F57D30"/>
                </a:solidFill>
                <a:latin typeface="Roboto"/>
              </a:rPr>
              <a:t>Un solo árbitro para confirmar cambios: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mantiene una lista de entidades afectadas y coordina el guardado de múltiples repositorios en una sola transacción.</a:t>
            </a:r>
          </a:p>
        </p:txBody>
      </p:sp>
      <p:sp>
        <p:nvSpPr>
          <p:cNvPr id="13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🔍</a:t>
            </a:r>
          </a:p>
        </p:txBody>
      </p:sp>
      <p:sp>
        <p:nvSpPr>
          <p:cNvPr id="13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Consistencia</a:t>
            </a:r>
          </a:p>
        </p:txBody>
      </p:sp>
      <p:sp>
        <p:nvSpPr>
          <p:cNvPr id="13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O se guardan la Solicitud y sus 5 Detalles, o nada se guarda.</a:t>
            </a:r>
          </a:p>
        </p:txBody>
      </p:sp>
      <p:sp>
        <p:nvSpPr>
          <p:cNvPr id="13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⚖</a:t>
            </a:r>
          </a:p>
        </p:txBody>
      </p:sp>
      <p:sp>
        <p:nvSpPr>
          <p:cNvPr id="13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Una sola llamada</a:t>
            </a:r>
          </a:p>
        </p:txBody>
      </p:sp>
      <p:sp>
        <p:nvSpPr>
          <p:cNvPr id="13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Evita múltiples llamadas a la base de datos dentro del mismo caso de uso.</a:t>
            </a:r>
          </a:p>
        </p:txBody>
      </p:sp>
      <p:sp>
        <p:nvSpPr>
          <p:cNvPr id="13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13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Aislamiento</a:t>
            </a:r>
          </a:p>
        </p:txBody>
      </p:sp>
      <p:sp>
        <p:nvSpPr>
          <p:cNvPr id="13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Permite hacer Rollback ante cualquier fallo inesperado.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Interfaz e implementación de Unit of Work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4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UnitOfWork.cs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interface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IUnitOfWork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IDisposable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ISolicitudRepository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Solicitudes {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get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IUsuarioRepository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Usuarios {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get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UnitOfWork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IUnitOfWork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private readonly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UnitOfWork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SolicitudesDbContext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db) =&gt; _db = db;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 =&gt;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SaveChangesAsync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Ciclos de vida en Dependency Injection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CEEFB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024B98"/>
                </a:solidFill>
                <a:latin typeface="Roboto"/>
              </a:rPr>
              <a:t>La regla de oro en Web APIs: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elegir mal el ciclo de vida provoca fugas de memoria o errores de concurrencia fatales.</a:t>
            </a:r>
          </a:p>
        </p:txBody>
      </p:sp>
      <p:sp>
        <p:nvSpPr>
          <p:cNvPr id="1531" name="e"/>
          <p:cNvSpPr/>
          <p:nvPr/>
        </p:nvSpPr>
        <p:spPr>
          <a:xfrm>
            <a:off x="3000000" y="395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🌟</a:t>
            </a:r>
          </a:p>
        </p:txBody>
      </p:sp>
      <p:sp>
        <p:nvSpPr>
          <p:cNvPr id="1532" name="t"/>
          <p:cNvSpPr txBox="1"/>
          <p:nvPr/>
        </p:nvSpPr>
        <p:spPr>
          <a:xfrm>
            <a:off x="1100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Transient</a:t>
            </a:r>
          </a:p>
        </p:txBody>
      </p:sp>
      <p:sp>
        <p:nvSpPr>
          <p:cNvPr id="1533" name="t"/>
          <p:cNvSpPr txBox="1"/>
          <p:nvPr/>
        </p:nvSpPr>
        <p:spPr>
          <a:xfrm>
            <a:off x="1100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Nueva instancia cada vez que se inyecta. Ideal para cálculos livianos sin estado.</a:t>
            </a:r>
          </a:p>
        </p:txBody>
      </p:sp>
      <p:sp>
        <p:nvSpPr>
          <p:cNvPr id="1541" name="e"/>
          <p:cNvSpPr/>
          <p:nvPr/>
        </p:nvSpPr>
        <p:spPr>
          <a:xfrm>
            <a:off x="8644000" y="395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🔄</a:t>
            </a:r>
          </a:p>
        </p:txBody>
      </p:sp>
      <p:sp>
        <p:nvSpPr>
          <p:cNvPr id="1542" name="t"/>
          <p:cNvSpPr txBox="1"/>
          <p:nvPr/>
        </p:nvSpPr>
        <p:spPr>
          <a:xfrm>
            <a:off x="6744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Scoped (El estándar)</a:t>
            </a:r>
          </a:p>
        </p:txBody>
      </p:sp>
      <p:sp>
        <p:nvSpPr>
          <p:cNvPr id="1543" name="t"/>
          <p:cNvSpPr txBox="1"/>
          <p:nvPr/>
        </p:nvSpPr>
        <p:spPr>
          <a:xfrm>
            <a:off x="6744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Una instancia única por cada petición HTTP. Es el ciclo obligatorio para DbContext y UnitOfWork.</a:t>
            </a:r>
          </a:p>
        </p:txBody>
      </p:sp>
      <p:sp>
        <p:nvSpPr>
          <p:cNvPr id="1551" name="e"/>
          <p:cNvSpPr/>
          <p:nvPr/>
        </p:nvSpPr>
        <p:spPr>
          <a:xfrm>
            <a:off x="14288000" y="395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🏗</a:t>
            </a:r>
          </a:p>
        </p:txBody>
      </p:sp>
      <p:sp>
        <p:nvSpPr>
          <p:cNvPr id="1552" name="t"/>
          <p:cNvSpPr txBox="1"/>
          <p:nvPr/>
        </p:nvSpPr>
        <p:spPr>
          <a:xfrm>
            <a:off x="12388000" y="510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Singleton</a:t>
            </a:r>
          </a:p>
        </p:txBody>
      </p:sp>
      <p:sp>
        <p:nvSpPr>
          <p:cNvPr id="1553" name="t"/>
          <p:cNvSpPr txBox="1"/>
          <p:nvPr/>
        </p:nvSpPr>
        <p:spPr>
          <a:xfrm>
            <a:off x="12388000" y="570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Una sola instancia para toda la aplicación viva. Para cachés o clientes HTTP reutilizables.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Servicios de Aplicación: Orquestación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6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SolicitudService.cs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SolicitudService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ISolicitudService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private readonly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IUnitOfWork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SolicitudService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IUnitOfWork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uow) =&gt; _uow = uow;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usuarioId)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solicitud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(dto.Motivo, usuarioId, dto.CentroCostoId);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foreach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item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in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dto.Detalles) solicitud.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AgregarDetalle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(item.Concepto, item.Importe);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AgregarAsync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SolicitudMapper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(solicitud);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DTOs: El contrato con el cliente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7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SolicitudDtos.cs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DTOs inmutables con records: limpios y seguros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Motivo,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CentroCostoId,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CrearDetalleDto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Detalles);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CrearDetalleDto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Concepto,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decimal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Importe);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Motivo,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decimal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MontoTotal,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Estado,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string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SolicitanteNombre,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DateTime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FechaCreacion,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    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DetalleDto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Detalles);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El cliente jamás ve claves internas innecesarias ni campos sensibles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¿Por qué prohibido devolver Entidades?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8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8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Devolver Entidades</a:t>
            </a:r>
          </a:p>
        </p:txBody>
      </p:sp>
      <p:sp>
        <p:nvSpPr>
          <p:cNvPr id="18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Expone campos confidenciales como PasswordHash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Errores de serialización JSON por referencias circulares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Rompe el frontend al cambiar cualquier columna en BD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Permite Over-Posting: el cliente modifica datos no autorizados</a:t>
            </a:r>
          </a:p>
        </p:txBody>
      </p:sp>
      <p:sp>
        <p:nvSpPr>
          <p:cNvPr id="18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18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8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Devolver DTOs</a:t>
            </a:r>
          </a:p>
        </p:txBody>
      </p:sp>
      <p:sp>
        <p:nvSpPr>
          <p:cNvPr id="18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Contrato estricto y versionable diseñado para la vista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Objetos planos sin referencias cíclicas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Desacopla la evolución de la BD respecto de la Web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Seguridad total contra asignaciones masivas maliciosas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Controlador: Endpoints de Consulta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19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SolicitudesController.cs</a:t>
            </a:r>
          </a:p>
          <a:p>
            <a:pPr algn="l"/>
            <a:r>
              <a:rPr lang="es-PE" sz="1600">
                <a:solidFill>
                  <a:srgbClr val="DCDCAA"/>
                </a:solidFill>
                <a:latin typeface="Courier New"/>
              </a:rPr>
              <a:t>[ApiController]</a:t>
            </a:r>
          </a:p>
          <a:p>
            <a:pPr algn="l"/>
            <a:r>
              <a:rPr lang="es-PE" sz="1600">
                <a:solidFill>
                  <a:srgbClr val="DCDCAA"/>
                </a:solidFill>
                <a:latin typeface="Courier New"/>
              </a:rPr>
              <a:t>[Route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"api/[controller]"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class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SolicitudesController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 :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ControllerBase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private readonly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ISolicitudService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_srv;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SolicitudesController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ISolicitudService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srv) =&gt; _srv = srv;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[HttpGet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CE9178"/>
                </a:solidFill>
                <a:latin typeface="Courier New"/>
              </a:rPr>
              <a:t>"{id:int}"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id)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resultado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_srv.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ObtenerPorIdAsync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resultado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is null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?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NotFound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 :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(resultado);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El Controlador: Crear y Devolver 201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0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CrearEndpoint.cs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[HttpPost]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ActionResult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CrearSolicitudDto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dto)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usuarioActualId = 1; </a:t>
            </a:r>
            <a:r>
              <a:rPr lang="es-PE" sz="1600">
                <a:solidFill>
                  <a:srgbClr val="6A9955"/>
                </a:solidFill>
                <a:latin typeface="Courier New"/>
              </a:rPr>
              <a:t>// En S13 vendrá del Token JWT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creada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_srv.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(dto, usuarioActualId);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CreatedAtAction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nameof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(Obtener),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{ id = creada.Id }, creada);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CreatedAtAction incluye la cabecera HTTP Location con la URL del nuevo recurso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Paginación profesional en la API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1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PagedResult.cs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Envoltorio estándar para cualquier lista paginada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record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PagedResult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    IReadOnlyList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Items,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TotalRegistros,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Pagina,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TamanoPagina)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TotalPaginas =&gt; 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Math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Ceiling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(TotalRegistros / (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double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)TamanoPagina);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bool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TienePaginaAnterior =&gt; Pagina &gt; 1;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public bool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TienePaginaSiguiente =&gt; Pagina &lt; TotalPaginas;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Paginación en base de datos: Skip y Take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2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SkipTake.cs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El cálculo se hace en SQL Server / SQLite con OFFSET y FETCH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public async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Task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PagedResult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ListarPaginadoAsync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    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pagina,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int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tamano)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{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total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CountAsync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items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_db.Solicitudes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OrderByDescending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s.FechaCreacion)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Skip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((pagina - 1) * tamano)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Take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(tamano)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Select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SolicitudMapper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    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ToListAsync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return 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PagedResult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SolicitudDto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&gt;(items, total, pagina, tamano);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Filtrado dinámico en LINQ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3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FiltradoDinamico.cs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Los filtros se acumulan antes de ejecutar la consulta</a:t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IQueryable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 query = _db.Solicitudes.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AsNoTracking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(filtro.Estado.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HasValue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</a:t>
            </a:r>
          </a:p>
           query = query.' DCDCAA 'Where' D4D4D4 '(s =&gt; s.Estado == filtro.Estado);')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(!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string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IsNullOrEmpty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(filtro.TextoBuscar))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    query = query.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Where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(s =&gt; s.Motivo.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Contains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(filtro.TextoBuscar));</a:t>
            </a:r>
          </a:p>
          <a:p>
            <a:pPr algn="l"/>
            <a:r>
              <a:rPr lang="es-PE" sz="1600">
                <a:solidFill>
                  <a:srgbClr val="C586C0"/>
                </a:solidFill>
                <a:latin typeface="Courier New"/>
              </a:rPr>
              <a:t>if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(filtro.MontoMinimo.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HasValue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</a:t>
            </a:r>
          </a:p>
           query = query.' DCDCAA 'Where' D4D4D4 '(s =&gt; s.MontoTotal &gt;= filtro.MontoMinimo);')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La consulta SQL final contiene solo los WHERE que se activaron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Pruebas unitarias de servicios con Moq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9007124" name="CodeBox"/>
          <p:cNvSpPr txBox="1"/>
          <p:nvPr/>
        </p:nvSpPr>
        <p:spPr bwMode="auto">
          <a:xfrm>
            <a:off x="1295399" y="2600000"/>
            <a:ext cx="15700000" cy="70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F57D30"/>
            </a:solidFill>
          </a:ln>
        </p:spPr>
        <p:txBody>
          <a:bodyPr wrap="square" rtlCol="0" anchor="t" lIns="180000" tIns="150000" rIns="120000" bIns="120000"/>
          <a:lstStyle/>
          <a:p>
            <a:pPr algn="l"/>
            <a:r>
              <a:rPr lang="es-PE" sz="1600" b="1">
                <a:solidFill>
                  <a:srgbClr val="F57D30"/>
                </a:solidFill>
                <a:latin typeface="Courier New"/>
              </a:rPr>
              <a:t>ServiceTests.cs</a:t>
            </a:r>
          </a:p>
          <a:p>
            <a:pPr algn="l"/>
            <a:r>
              <a:rPr lang="es-PE" sz="1600">
                <a:solidFill>
                  <a:srgbClr val="6A9955"/>
                </a:solidFill>
                <a:latin typeface="Courier New"/>
              </a:rPr>
              <a:t>// Probamos SolicitudService simulando IUnitOfWork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mockRepo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Mock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ISolicitudRepository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 );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mockUow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Mock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&lt;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IUnitOfWork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&gt;( 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mockUow.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Setup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(u =&gt; u.Solicitudes).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Returns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(mockRepo.Object);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servicio = </a:t>
            </a:r>
            <a:r>
              <a:rPr lang="es-PE" sz="1600">
                <a:solidFill>
                  <a:srgbClr val="569CD6"/>
                </a:solidFill>
                <a:latin typeface="Courier New"/>
              </a:rPr>
              <a:t>new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SolicitudService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(mockUow.Object);</a:t>
            </a:r>
          </a:p>
          <a:p>
            <a:pPr algn="l"/>
            <a:r>
              <a:rPr lang="es-PE" sz="1600">
                <a:solidFill>
                  <a:srgbClr val="569CD6"/>
                </a:solidFill>
                <a:latin typeface="Courier New"/>
              </a:rPr>
              <a:t>var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resultado = </a:t>
            </a:r>
            <a:r>
              <a:rPr lang="es-PE" sz="1600">
                <a:solidFill>
                  <a:srgbClr val="C586C0"/>
                </a:solidFill>
                <a:latin typeface="Courier New"/>
              </a:rPr>
              <a:t>await 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servicio.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CrearAsync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(dto, 1);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/>
            </a:r>
          </a:p>
          <a:p>
            <a:pPr algn="l"/>
            <a:r>
              <a:rPr lang="es-PE" sz="1600">
                <a:solidFill>
                  <a:srgbClr val="4EC9B0"/>
                </a:solidFill>
                <a:latin typeface="Courier New"/>
              </a:rPr>
              <a:t>Assert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NotNull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(resultado);</a:t>
            </a:r>
          </a:p>
          <a:p>
            <a:pPr algn="l"/>
            <a:r>
              <a:rPr lang="es-PE" sz="1600">
                <a:solidFill>
                  <a:srgbClr val="D4D4D4"/>
                </a:solidFill>
                <a:latin typeface="Courier New"/>
              </a:rPr>
              <a:t>mockUow.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Verify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(u =&gt; u.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CompletarAsync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( ), </a:t>
            </a:r>
            <a:r>
              <a:rPr lang="es-PE" sz="1600">
                <a:solidFill>
                  <a:srgbClr val="4EC9B0"/>
                </a:solidFill>
                <a:latin typeface="Courier New"/>
              </a:rPr>
              <a:t>Times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.</a:t>
            </a:r>
            <a:r>
              <a:rPr lang="es-PE" sz="1600">
                <a:solidFill>
                  <a:srgbClr val="DCDCAA"/>
                </a:solidFill>
                <a:latin typeface="Courier New"/>
              </a:rPr>
              <a:t>Once</a:t>
            </a:r>
            <a:r>
              <a:rPr lang="es-PE" sz="1600">
                <a:solidFill>
                  <a:srgbClr val="D4D4D4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Checklist de calidad para APIs CRUD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50" name="co"/>
          <p:cNvSpPr/>
          <p:nvPr/>
        </p:nvSpPr>
        <p:spPr>
          <a:xfrm>
            <a:off x="1200000" y="2500000"/>
            <a:ext cx="15700000" cy="1100000"/>
          </a:xfrm>
          <a:prstGeom prst="roundRect">
            <a:avLst>
              <a:gd name="adj" fmla="val 12000"/>
            </a:avLst>
          </a:prstGeom>
          <a:solidFill>
            <a:srgbClr val="D9F2D0"/>
          </a:solidFill>
        </p:spPr>
        <p:txBody>
          <a:bodyPr anchor="ctr" lIns="200000" rIns="200000"/>
          <a:lstStyle/>
          <a:p>
            <a:r>
              <a:rPr lang="es-PE" sz="2000" b="1">
                <a:solidFill>
                  <a:srgbClr val="1B7A2F"/>
                </a:solidFill>
                <a:latin typeface="Roboto"/>
              </a:rPr>
              <a:t>Estándares profesionales para la industria: </a:t>
            </a:r>
            <a:r>
              <a:rPr lang="es-PE" sz="2000">
                <a:solidFill>
                  <a:srgbClr val="000000"/>
                </a:solidFill>
                <a:latin typeface="Roboto"/>
              </a:rPr>
              <a:t>una API bien construida es predecible, segura y fácil de consumir por Angular.</a:t>
            </a:r>
          </a:p>
        </p:txBody>
      </p:sp>
      <p:sp>
        <p:nvSpPr>
          <p:cNvPr id="251" name="tp"/>
          <p:cNvSpPr txBox="1"/>
          <p:nvPr/>
        </p:nvSpPr>
        <p:spPr>
          <a:xfrm>
            <a:off x="1300000" y="4000000"/>
            <a:ext cx="15700000" cy="54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Endpoints de lectura siempre paginados: jamás devuelvas un SELECT sin límite.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 DTOs específicos de entrada y salida desacoplados de la base de datos.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Devuelve códigos HTTP semánticos (200, 201 Created con cabecera Location, 404).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Mantén los controladores delgados (Thin Controllers) delegando la lógica al servicio.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Registra dependencias con Scoped para evitar mezclar estados entre peticiones.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Errores comunes en CRUD y repositorios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601" name="r"/>
          <p:cNvSpPr/>
          <p:nvPr/>
        </p:nvSpPr>
        <p:spPr>
          <a:xfrm>
            <a:off x="13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14B4B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2" name="t"/>
          <p:cNvSpPr txBox="1"/>
          <p:nvPr/>
        </p:nvSpPr>
        <p:spPr>
          <a:xfrm>
            <a:off x="15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D14B4B"/>
                </a:solidFill>
                <a:latin typeface="Roboto"/>
              </a:rPr>
              <a:t>Evita esto</a:t>
            </a:r>
          </a:p>
        </p:txBody>
      </p:sp>
      <p:sp>
        <p:nvSpPr>
          <p:cNvPr id="2603" name="tp"/>
          <p:cNvSpPr txBox="1"/>
          <p:nvPr/>
        </p:nvSpPr>
        <p:spPr>
          <a:xfrm>
            <a:off x="14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Inyectar DbContext directamente en el Controlador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Llamar SaveChanges dentro de un bucle foreach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Devolver entidades con todas sus propiedades al cliente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Hacer paginación en memoria después de ToList()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D14B4B"/>
                </a:solidFill>
              </a:rPr>
              <a:t>✗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Retornar siempre HTTP 200 aunque ocurra un fallo</a:t>
            </a:r>
          </a:p>
        </p:txBody>
      </p:sp>
      <p:sp>
        <p:nvSpPr>
          <p:cNvPr id="2604" name="t"/>
          <p:cNvSpPr txBox="1"/>
          <p:nvPr/>
        </p:nvSpPr>
        <p:spPr>
          <a:xfrm>
            <a:off x="8550000" y="4600000"/>
            <a:ext cx="1200000" cy="1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4000" b="1">
                <a:solidFill>
                  <a:srgbClr val="888888"/>
                </a:solidFill>
                <a:latin typeface="Roboto"/>
              </a:rPr>
              <a:t>➞</a:t>
            </a:r>
          </a:p>
        </p:txBody>
      </p:sp>
      <p:sp>
        <p:nvSpPr>
          <p:cNvPr id="2605" name="r"/>
          <p:cNvSpPr/>
          <p:nvPr/>
        </p:nvSpPr>
        <p:spPr>
          <a:xfrm>
            <a:off x="9900000" y="3100000"/>
            <a:ext cx="7100000" cy="4600000"/>
          </a:xfrm>
          <a:prstGeom prst="roundRect">
            <a:avLst>
              <a:gd name="adj" fmla="val 5000"/>
            </a:avLst>
          </a:prstGeom>
          <a:solidFill>
            <a:srgbClr val="EAF8E6"/>
          </a:solidFill>
          <a:ln w="19050">
            <a:solidFill>
              <a:srgbClr val="2EA84F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606" name="t"/>
          <p:cNvSpPr txBox="1"/>
          <p:nvPr/>
        </p:nvSpPr>
        <p:spPr>
          <a:xfrm>
            <a:off x="10100000" y="3250000"/>
            <a:ext cx="6700000" cy="600000"/>
          </a:xfrm>
          <a:prstGeom prst="rect">
            <a:avLst/>
          </a:prstGeom>
        </p:spPr>
        <p:txBody>
          <a:bodyPr wrap="square" anchor="t"/>
          <a:lstStyle/>
          <a:p>
            <a:pPr algn="l">
              <a:lnSpc>
                <a:spcPct val="118000"/>
              </a:lnSpc>
            </a:pPr>
            <a:r>
              <a:rPr lang="es-PE" sz="2200" b="1">
                <a:solidFill>
                  <a:srgbClr val="2EA84F"/>
                </a:solidFill>
                <a:latin typeface="Roboto"/>
              </a:rPr>
              <a:t>Haz esto</a:t>
            </a:r>
          </a:p>
        </p:txBody>
      </p:sp>
      <p:sp>
        <p:nvSpPr>
          <p:cNvPr id="2607" name="tp"/>
          <p:cNvSpPr txBox="1"/>
          <p:nvPr/>
        </p:nvSpPr>
        <p:spPr>
          <a:xfrm>
            <a:off x="10050000" y="4050000"/>
            <a:ext cx="6800000" cy="3500000"/>
          </a:xfrm>
          <a:prstGeom prst="rect">
            <a:avLst/>
          </a:prstGeom>
        </p:spPr>
        <p:txBody>
          <a:bodyPr wrap="square" anchor="t" lIns="120000" tIns="80000" rIns="120000"/>
          <a:lstStyle/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Inyectar servicios de aplicación en el Controlador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Acumular cambios y llamar CompletarAsync una sola vez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Mapear a DTOs con las propiedades estrictamente requeridas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Ejecutar Skip() y Take() en SQL antes de ToListAsync()</a:t>
            </a:r>
          </a:p>
          <a:p>
            <a:pPr marL="300000" indent="-300000">
              <a:lnSpc>
                <a:spcPct val="150000"/>
              </a:lnSpc>
            </a:pPr>
            <a:r>
              <a:rPr lang="es-PE" sz="1700" b="1">
                <a:solidFill>
                  <a:srgbClr val="2EA84F"/>
                </a:solidFill>
              </a:rPr>
              <a:t>✓  </a:t>
            </a:r>
            <a:r>
              <a:rPr lang="es-PE" sz="1700">
                <a:solidFill>
                  <a:srgbClr val="000000"/>
                </a:solidFill>
                <a:latin typeface="Roboto"/>
              </a:rPr>
              <a:t>Usar códigos de estado REST exactos y estandarizados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684561" name="Group 3"/>
          <p:cNvGrpSpPr/>
          <p:nvPr/>
        </p:nvGrpSpPr>
        <p:grpSpPr bwMode="auto">
          <a:xfrm>
            <a:off x="0" y="12969"/>
            <a:ext cx="18340137" cy="2082531"/>
            <a:chOff x="0" y="0"/>
            <a:chExt cx="5505199" cy="760872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5505199" cy="760872"/>
            </a:xfrm>
            <a:custGeom>
              <a:avLst/>
              <a:gdLst/>
              <a:ahLst/>
              <a:cxnLst/>
              <a:rect l="l" t="t" r="r" b="b"/>
              <a:pathLst>
                <a:path w="5505199" h="760872" fill="norm" stroke="1" extrusionOk="0">
                  <a:moveTo>
                    <a:pt x="0" y="0"/>
                  </a:moveTo>
                  <a:lnTo>
                    <a:pt x="5505199" y="0"/>
                  </a:lnTo>
                  <a:lnTo>
                    <a:pt x="5505199" y="760872"/>
                  </a:lnTo>
                  <a:lnTo>
                    <a:pt x="0" y="760872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153495" r="0" b="-153495"/>
              </a:stretch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921881803" name="TextBox 5"/>
          <p:cNvSpPr txBox="1"/>
          <p:nvPr/>
        </p:nvSpPr>
        <p:spPr bwMode="auto">
          <a:xfrm>
            <a:off x="1295399" y="795277"/>
            <a:ext cx="8757361" cy="50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defRPr/>
            </a:pPr>
            <a:r>
              <a:rPr lang="es-ES" sz="4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Resumen de la sesión</a:t>
            </a:r>
            <a:endParaRPr/>
          </a:p>
        </p:txBody>
      </p:sp>
      <p:grpSp>
        <p:nvGrpSpPr>
          <p:cNvPr id="191490479" name="Group 9"/>
          <p:cNvGrpSpPr>
            <a:grpSpLocks noChangeAspect="1"/>
          </p:cNvGrpSpPr>
          <p:nvPr/>
        </p:nvGrpSpPr>
        <p:grpSpPr bwMode="auto">
          <a:xfrm>
            <a:off x="14767090" y="1727382"/>
            <a:ext cx="2185559" cy="736237"/>
            <a:chOff x="0" y="0"/>
            <a:chExt cx="1231938" cy="414998"/>
          </a:xfrm>
        </p:grpSpPr>
        <p:sp>
          <p:nvSpPr>
            <p:cNvPr id="10" name="Freeform 10"/>
            <p:cNvSpPr/>
            <p:nvPr/>
          </p:nvSpPr>
          <p:spPr bwMode="auto">
            <a:xfrm>
              <a:off x="63500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471932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520" y="288036"/>
                    <a:pt x="288036" y="223520"/>
                    <a:pt x="288036" y="144018"/>
                  </a:cubicBezTo>
                  <a:cubicBezTo>
                    <a:pt x="288036" y="64516"/>
                    <a:pt x="223520" y="0"/>
                    <a:pt x="144018" y="0"/>
                  </a:cubicBezTo>
                  <a:cubicBezTo>
                    <a:pt x="64516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880364" y="63500"/>
              <a:ext cx="288036" cy="288036"/>
            </a:xfrm>
            <a:custGeom>
              <a:avLst/>
              <a:gdLst/>
              <a:ahLst/>
              <a:cxnLst/>
              <a:rect l="l" t="t" r="r" b="b"/>
              <a:pathLst>
                <a:path w="288036" h="288036" fill="norm" stroke="1" extrusionOk="0">
                  <a:moveTo>
                    <a:pt x="144018" y="288036"/>
                  </a:moveTo>
                  <a:cubicBezTo>
                    <a:pt x="223647" y="288036"/>
                    <a:pt x="288036" y="223520"/>
                    <a:pt x="288036" y="144018"/>
                  </a:cubicBezTo>
                  <a:cubicBezTo>
                    <a:pt x="288036" y="64516"/>
                    <a:pt x="223647" y="0"/>
                    <a:pt x="144018" y="0"/>
                  </a:cubicBezTo>
                  <a:cubicBezTo>
                    <a:pt x="64389" y="0"/>
                    <a:pt x="0" y="64516"/>
                    <a:pt x="0" y="144018"/>
                  </a:cubicBezTo>
                  <a:cubicBezTo>
                    <a:pt x="0" y="223520"/>
                    <a:pt x="64516" y="288036"/>
                    <a:pt x="144018" y="288036"/>
                  </a:cubicBezTo>
                </a:path>
              </a:pathLst>
            </a:custGeom>
            <a:solidFill>
              <a:srgbClr val="F57D30"/>
            </a:solid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699997998" name="Group 11"/>
          <p:cNvGrpSpPr/>
          <p:nvPr/>
        </p:nvGrpSpPr>
        <p:grpSpPr bwMode="auto">
          <a:xfrm>
            <a:off x="13961793" y="-2005"/>
            <a:ext cx="3796083" cy="1442140"/>
            <a:chOff x="0" y="0"/>
            <a:chExt cx="3731719" cy="1122625"/>
          </a:xfrm>
        </p:grpSpPr>
        <p:sp>
          <p:nvSpPr>
            <p:cNvPr id="16" name="TextBox 12"/>
            <p:cNvSpPr txBox="1"/>
            <p:nvPr/>
          </p:nvSpPr>
          <p:spPr bwMode="auto">
            <a:xfrm>
              <a:off x="1413024" y="749031"/>
              <a:ext cx="2055291" cy="1299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ts val="0"/>
                </a:spcBef>
                <a:defRPr/>
              </a:pPr>
              <a:r>
                <a:rPr lang="es-PE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Centro de Capacitación</a:t>
              </a:r>
              <a:endParaRPr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0" y="0"/>
              <a:ext cx="3731719" cy="1122625"/>
            </a:xfrm>
            <a:custGeom>
              <a:avLst/>
              <a:gdLst/>
              <a:ahLst/>
              <a:cxnLst/>
              <a:rect l="l" t="t" r="r" b="b"/>
              <a:pathLst>
                <a:path w="3731719" h="1122625" fill="norm" stroke="1" extrusionOk="0">
                  <a:moveTo>
                    <a:pt x="0" y="0"/>
                  </a:moveTo>
                  <a:lnTo>
                    <a:pt x="3731719" y="0"/>
                  </a:lnTo>
                  <a:lnTo>
                    <a:pt x="3731719" y="1122625"/>
                  </a:lnTo>
                  <a:lnTo>
                    <a:pt x="0" y="11226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lang="es-PE"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2711" name="e"/>
          <p:cNvSpPr/>
          <p:nvPr/>
        </p:nvSpPr>
        <p:spPr>
          <a:xfrm>
            <a:off x="3000000" y="2700000"/>
            <a:ext cx="1000000" cy="1000000"/>
          </a:xfrm>
          <a:prstGeom prst="ellipse">
            <a:avLst/>
          </a:prstGeom>
          <a:solidFill>
            <a:srgbClr val="D6E4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🔍</a:t>
            </a:r>
          </a:p>
        </p:txBody>
      </p:sp>
      <p:sp>
        <p:nvSpPr>
          <p:cNvPr id="2712" name="t"/>
          <p:cNvSpPr txBox="1"/>
          <p:nvPr/>
        </p:nvSpPr>
        <p:spPr>
          <a:xfrm>
            <a:off x="1100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F6FEB"/>
                </a:solidFill>
                <a:latin typeface="Roboto"/>
              </a:rPr>
              <a:t>Repository</a:t>
            </a:r>
          </a:p>
        </p:txBody>
      </p:sp>
      <p:sp>
        <p:nvSpPr>
          <p:cNvPr id="2713" name="t"/>
          <p:cNvSpPr txBox="1"/>
          <p:nvPr/>
        </p:nvSpPr>
        <p:spPr>
          <a:xfrm>
            <a:off x="1100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Acceso a datos desacoplado y testeable.</a:t>
            </a:r>
          </a:p>
        </p:txBody>
      </p:sp>
      <p:sp>
        <p:nvSpPr>
          <p:cNvPr id="2721" name="e"/>
          <p:cNvSpPr/>
          <p:nvPr/>
        </p:nvSpPr>
        <p:spPr>
          <a:xfrm>
            <a:off x="8644000" y="2700000"/>
            <a:ext cx="1000000" cy="1000000"/>
          </a:xfrm>
          <a:prstGeom prst="ellipse">
            <a:avLst/>
          </a:prstGeom>
          <a:solidFill>
            <a:srgbClr val="D9F2D0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🛡</a:t>
            </a:r>
          </a:p>
        </p:txBody>
      </p:sp>
      <p:sp>
        <p:nvSpPr>
          <p:cNvPr id="2722" name="t"/>
          <p:cNvSpPr txBox="1"/>
          <p:nvPr/>
        </p:nvSpPr>
        <p:spPr>
          <a:xfrm>
            <a:off x="6744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2EA84F"/>
                </a:solidFill>
                <a:latin typeface="Roboto"/>
              </a:rPr>
              <a:t>Unit of Work</a:t>
            </a:r>
          </a:p>
        </p:txBody>
      </p:sp>
      <p:sp>
        <p:nvSpPr>
          <p:cNvPr id="2723" name="t"/>
          <p:cNvSpPr txBox="1"/>
          <p:nvPr/>
        </p:nvSpPr>
        <p:spPr>
          <a:xfrm>
            <a:off x="6744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Consistencia transaccional en un solo commit.</a:t>
            </a:r>
          </a:p>
        </p:txBody>
      </p:sp>
      <p:sp>
        <p:nvSpPr>
          <p:cNvPr id="2731" name="e"/>
          <p:cNvSpPr/>
          <p:nvPr/>
        </p:nvSpPr>
        <p:spPr>
          <a:xfrm>
            <a:off x="14288000" y="2700000"/>
            <a:ext cx="1000000" cy="1000000"/>
          </a:xfrm>
          <a:prstGeom prst="ellipse">
            <a:avLst/>
          </a:prstGeom>
          <a:solidFill>
            <a:srgbClr val="ECD9FF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📄</a:t>
            </a:r>
          </a:p>
        </p:txBody>
      </p:sp>
      <p:sp>
        <p:nvSpPr>
          <p:cNvPr id="2732" name="t"/>
          <p:cNvSpPr txBox="1"/>
          <p:nvPr/>
        </p:nvSpPr>
        <p:spPr>
          <a:xfrm>
            <a:off x="12388000" y="38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8B3FD9"/>
                </a:solidFill>
                <a:latin typeface="Roboto"/>
              </a:rPr>
              <a:t>DTOs</a:t>
            </a:r>
          </a:p>
        </p:txBody>
      </p:sp>
      <p:sp>
        <p:nvSpPr>
          <p:cNvPr id="2733" name="t"/>
          <p:cNvSpPr txBox="1"/>
          <p:nvPr/>
        </p:nvSpPr>
        <p:spPr>
          <a:xfrm>
            <a:off x="12388000" y="44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Contratos limpios sin exponer el dominio.</a:t>
            </a:r>
          </a:p>
        </p:txBody>
      </p:sp>
      <p:sp>
        <p:nvSpPr>
          <p:cNvPr id="2741" name="e"/>
          <p:cNvSpPr/>
          <p:nvPr/>
        </p:nvSpPr>
        <p:spPr>
          <a:xfrm>
            <a:off x="3000000" y="6200000"/>
            <a:ext cx="1000000" cy="1000000"/>
          </a:xfrm>
          <a:prstGeom prst="ellipse">
            <a:avLst/>
          </a:prstGeom>
          <a:solidFill>
            <a:srgbClr val="FFE3CC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🎯</a:t>
            </a:r>
          </a:p>
        </p:txBody>
      </p:sp>
      <p:sp>
        <p:nvSpPr>
          <p:cNvPr id="2742" name="t"/>
          <p:cNvSpPr txBox="1"/>
          <p:nvPr/>
        </p:nvSpPr>
        <p:spPr>
          <a:xfrm>
            <a:off x="1100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F57D30"/>
                </a:solidFill>
                <a:latin typeface="Roboto"/>
              </a:rPr>
              <a:t>Controladores</a:t>
            </a:r>
          </a:p>
        </p:txBody>
      </p:sp>
      <p:sp>
        <p:nvSpPr>
          <p:cNvPr id="2743" name="t"/>
          <p:cNvSpPr txBox="1"/>
          <p:nvPr/>
        </p:nvSpPr>
        <p:spPr>
          <a:xfrm>
            <a:off x="1100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Thin Controllers orquestando respuestas REST.</a:t>
            </a:r>
          </a:p>
        </p:txBody>
      </p:sp>
      <p:sp>
        <p:nvSpPr>
          <p:cNvPr id="2751" name="e"/>
          <p:cNvSpPr/>
          <p:nvPr/>
        </p:nvSpPr>
        <p:spPr>
          <a:xfrm>
            <a:off x="8644000" y="6200000"/>
            <a:ext cx="1000000" cy="1000000"/>
          </a:xfrm>
          <a:prstGeom prst="ellipse">
            <a:avLst/>
          </a:prstGeom>
          <a:solidFill>
            <a:srgbClr val="CCF2EA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📊</a:t>
            </a:r>
          </a:p>
        </p:txBody>
      </p:sp>
      <p:sp>
        <p:nvSpPr>
          <p:cNvPr id="2752" name="t"/>
          <p:cNvSpPr txBox="1"/>
          <p:nvPr/>
        </p:nvSpPr>
        <p:spPr>
          <a:xfrm>
            <a:off x="6744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1AA39A"/>
                </a:solidFill>
                <a:latin typeface="Roboto"/>
              </a:rPr>
              <a:t>Paginación</a:t>
            </a:r>
          </a:p>
        </p:txBody>
      </p:sp>
      <p:sp>
        <p:nvSpPr>
          <p:cNvPr id="2753" name="t"/>
          <p:cNvSpPr txBox="1"/>
          <p:nvPr/>
        </p:nvSpPr>
        <p:spPr>
          <a:xfrm>
            <a:off x="6744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Skip y Take optimizados desde base de datos.</a:t>
            </a:r>
          </a:p>
        </p:txBody>
      </p:sp>
      <p:sp>
        <p:nvSpPr>
          <p:cNvPr id="2761" name="e"/>
          <p:cNvSpPr/>
          <p:nvPr/>
        </p:nvSpPr>
        <p:spPr>
          <a:xfrm>
            <a:off x="14288000" y="6200000"/>
            <a:ext cx="1000000" cy="1000000"/>
          </a:xfrm>
          <a:prstGeom prst="ellipse">
            <a:avLst/>
          </a:prstGeom>
          <a:solidFill>
            <a:srgbClr val="FFD6D6"/>
          </a:solidFill>
        </p:spPr>
        <p:txBody>
          <a:bodyPr anchor="ctr"/>
          <a:lstStyle/>
          <a:p>
            <a:pPr algn="ctr"/>
            <a:r>
              <a:rPr lang="es-PE" sz="3200">
                <a:latin typeface="Roboto"/>
                <a:ea typeface="Roboto"/>
                <a:cs typeface="Roboto"/>
              </a:rPr>
              <a:t>✔</a:t>
            </a:r>
          </a:p>
        </p:txBody>
      </p:sp>
      <p:sp>
        <p:nvSpPr>
          <p:cNvPr id="2762" name="t"/>
          <p:cNvSpPr txBox="1"/>
          <p:nvPr/>
        </p:nvSpPr>
        <p:spPr>
          <a:xfrm>
            <a:off x="12388000" y="7350000"/>
            <a:ext cx="4800000" cy="6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2000" b="1">
                <a:solidFill>
                  <a:srgbClr val="D14B4B"/>
                </a:solidFill>
                <a:latin typeface="Roboto"/>
              </a:rPr>
              <a:t>Pruebas</a:t>
            </a:r>
          </a:p>
        </p:txBody>
      </p:sp>
      <p:sp>
        <p:nvSpPr>
          <p:cNvPr id="2763" name="t"/>
          <p:cNvSpPr txBox="1"/>
          <p:nvPr/>
        </p:nvSpPr>
        <p:spPr>
          <a:xfrm>
            <a:off x="12388000" y="7950000"/>
            <a:ext cx="4800000" cy="20000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lnSpc>
                <a:spcPct val="118000"/>
              </a:lnSpc>
            </a:pPr>
            <a:r>
              <a:rPr lang="es-PE" sz="1500" b="0">
                <a:solidFill>
                  <a:srgbClr val="333333"/>
                </a:solidFill>
                <a:latin typeface="Roboto"/>
              </a:rPr>
              <a:t>Servicios testeables al 100% con Moq.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71290CC759522429B105456B3C74D4E" ma:contentTypeVersion="18" ma:contentTypeDescription="Crear nuevo documento." ma:contentTypeScope="" ma:versionID="b16921caaa352d6c6b40a35a64dd15dd">
  <xsd:schema xmlns:xsd="http://www.w3.org/2001/XMLSchema" xmlns:xs="http://www.w3.org/2001/XMLSchema" xmlns:p="http://schemas.microsoft.com/office/2006/metadata/properties" xmlns:ns2="b45a8c2e-09b1-4064-bb7e-0e2948b15800" xmlns:ns3="f893cdd1-18a6-49f9-8410-ff8a75fa096f" targetNamespace="http://schemas.microsoft.com/office/2006/metadata/properties" ma:root="true" ma:fieldsID="cc2b95a57930b236afc96f125766a762" ns2:_="" ns3:_="">
    <xsd:import namespace="b45a8c2e-09b1-4064-bb7e-0e2948b15800"/>
    <xsd:import namespace="f893cdd1-18a6-49f9-8410-ff8a75fa09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a8c2e-09b1-4064-bb7e-0e2948b15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ac0ade2b-fa97-451f-b1a9-747194817b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3cdd1-18a6-49f9-8410-ff8a75fa096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5c9644d-ae6b-4749-accb-1586901e3ac7}" ma:internalName="TaxCatchAll" ma:showField="CatchAllData" ma:web="f893cdd1-18a6-49f9-8410-ff8a75fa09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93cdd1-18a6-49f9-8410-ff8a75fa096f" xsi:nil="true"/>
    <lcf76f155ced4ddcb4097134ff3c332f xmlns="b45a8c2e-09b1-4064-bb7e-0e2948b158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DDEF5603-70E4-4BC1-A1F1-931CCD42AE99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a8c2e-09b1-4064-bb7e-0e2948b15800"/>
    <ds:schemaRef ds:uri="f893cdd1-18a6-49f9-8410-ff8a75fa0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FFAB2F5F-24C6-4839-9804-B0AC03D21AC2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835F4B21-4188-47AC-8D98-85563D194352">
  <ds:schemaRefs>
    <ds:schemaRef ds:uri="http://schemas.microsoft.com/office/2006/metadata/properties"/>
    <ds:schemaRef ds:uri="http://schemas.microsoft.com/office/infopath/2007/PartnerControls"/>
    <ds:schemaRef ds:uri="f893cdd1-18a6-49f9-8410-ff8a75fa096f"/>
    <ds:schemaRef ds:uri="b45a8c2e-09b1-4064-bb7e-0e2948b15800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Proyecto Arquitectónico Minimalista Blanco y Negro</dc:title>
  <dc:creator>Enrique Huaman</dc:creator>
  <dc:identifier>DAGwiwYUdeU</dc:identifier>
  <cp:lastModifiedBy/>
  <cp:revision>59</cp:revision>
  <dcterms:created xsi:type="dcterms:W3CDTF">2006-08-16T00:00:00Z</dcterms:created>
  <dcterms:modified xsi:type="dcterms:W3CDTF">2026-05-24T07:38:20Z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0x010100171290CC759522429B105456B3C74D4E</vt:lpwstr>
  </property>
</Properties>
</file>