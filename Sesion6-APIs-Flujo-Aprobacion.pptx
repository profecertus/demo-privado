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4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61" r:id="rId12"/>
    <p:sldId id="262" r:id="rId13"/>
    <p:sldId id="263" r:id="rId14"/>
  </p:sldIdLst>
  <p:sldSz cx="18288000" cy="10287000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6" d="100"/>
          <a:sy n="16" d="100"/>
        </p:scale>
        <p:origin x="858" y="25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029517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21857553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E7084CA-3DB8-45DC-8AD8-9E56A343B3BC}" type="datetimeFigureOut">
              <a:rPr lang="es-ES"/>
              <a:t>26/02/2026</a:t>
            </a:fld>
            <a:endParaRPr lang="es-ES"/>
          </a:p>
        </p:txBody>
      </p:sp>
      <p:sp>
        <p:nvSpPr>
          <p:cNvPr id="1831933791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002091996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2138952940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42493995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E047963-003F-451B-AA32-8837B58ED770}" type="slidenum">
              <a:rPr lang="es-ES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062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701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94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A6C018-A453-C2A7-E90A-6D73B4BE2E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591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1913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701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C2BFE4-113C-16A9-46BC-5219253630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95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3437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54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48E95A-3D9C-DB7C-67BA-937240A4F1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173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095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96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B69992-1612-E231-2E50-CEF3DB79C3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11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607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827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A7882C-EA35-FF54-8897-ECD08444CE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121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674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97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B30468-729D-BD5A-C039-A7053A464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087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510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99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B365B0-6DCD-3023-AAFC-26DA05F283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994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8589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92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8BE6F0-4DF0-1A39-737F-5436869D53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86292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8707661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831979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257962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77065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0027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217940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612896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21145325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2300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46823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52953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1775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8727561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26644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48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788342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190731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271926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721051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25855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4890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70307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051175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321529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7262521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5086001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9369232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832584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4990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8154893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7895974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53474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8267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86358325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62574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82798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9547715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440838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71971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119532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89708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13157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3509114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2256470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05741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449257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70919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0444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1605168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13305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605029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78451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18752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833064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226916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8660507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21553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25410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793826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7356014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108341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483807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382230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895975050" name="Group 3"/>
          <p:cNvGrpSpPr/>
          <p:nvPr/>
        </p:nvGrpSpPr>
        <p:grpSpPr bwMode="auto">
          <a:xfrm>
            <a:off x="10465866" y="-108420"/>
            <a:ext cx="7992925" cy="105038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4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272809880" name="Group 5"/>
          <p:cNvGrpSpPr/>
          <p:nvPr/>
        </p:nvGrpSpPr>
        <p:grpSpPr bwMode="auto">
          <a:xfrm>
            <a:off x="193204" y="136418"/>
            <a:ext cx="4566505" cy="1536415"/>
            <a:chOff x="0" y="0"/>
            <a:chExt cx="4944796" cy="1483439"/>
          </a:xfrm>
        </p:grpSpPr>
        <p:sp>
          <p:nvSpPr>
            <p:cNvPr id="6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7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1012875942" name="Freeform 8"/>
          <p:cNvSpPr/>
          <p:nvPr/>
        </p:nvSpPr>
        <p:spPr bwMode="auto">
          <a:xfrm>
            <a:off x="13837876" y="6183764"/>
            <a:ext cx="1099807" cy="324062"/>
          </a:xfrm>
          <a:custGeom>
            <a:avLst/>
            <a:gdLst/>
            <a:ahLst/>
            <a:cxnLst/>
            <a:rect l="l" t="t" r="r" b="b"/>
            <a:pathLst>
              <a:path w="1099807" h="324062" fill="norm" stroke="1" extrusionOk="0">
                <a:moveTo>
                  <a:pt x="0" y="0"/>
                </a:moveTo>
                <a:lnTo>
                  <a:pt x="1099807" y="0"/>
                </a:lnTo>
                <a:lnTo>
                  <a:pt x="1099807" y="324062"/>
                </a:lnTo>
                <a:lnTo>
                  <a:pt x="0" y="324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-14632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1288211233" name="Freeform 9"/>
          <p:cNvSpPr/>
          <p:nvPr/>
        </p:nvSpPr>
        <p:spPr bwMode="auto">
          <a:xfrm>
            <a:off x="13765201" y="7561751"/>
            <a:ext cx="970596" cy="340395"/>
          </a:xfrm>
          <a:custGeom>
            <a:avLst/>
            <a:gdLst/>
            <a:ahLst/>
            <a:cxnLst/>
            <a:rect l="l" t="t" r="r" b="b"/>
            <a:pathLst>
              <a:path w="970596" h="340395" fill="norm" stroke="1" extrusionOk="0">
                <a:moveTo>
                  <a:pt x="0" y="0"/>
                </a:moveTo>
                <a:lnTo>
                  <a:pt x="970596" y="0"/>
                </a:lnTo>
                <a:lnTo>
                  <a:pt x="970596" y="340395"/>
                </a:lnTo>
                <a:lnTo>
                  <a:pt x="0" y="3403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-18734" t="-62458" r="-18444" b="-57704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609775544" name="Freeform 10"/>
          <p:cNvSpPr/>
          <p:nvPr/>
        </p:nvSpPr>
        <p:spPr bwMode="auto">
          <a:xfrm>
            <a:off x="14906722" y="7205876"/>
            <a:ext cx="374698" cy="441513"/>
          </a:xfrm>
          <a:custGeom>
            <a:avLst/>
            <a:gdLst/>
            <a:ahLst/>
            <a:cxnLst/>
            <a:rect l="l" t="t" r="r" b="b"/>
            <a:pathLst>
              <a:path w="374698" h="441513" fill="norm" stroke="1" extrusionOk="0">
                <a:moveTo>
                  <a:pt x="0" y="0"/>
                </a:moveTo>
                <a:lnTo>
                  <a:pt x="374698" y="0"/>
                </a:lnTo>
                <a:lnTo>
                  <a:pt x="374698" y="441514"/>
                </a:lnTo>
                <a:lnTo>
                  <a:pt x="0" y="441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-34454" t="0" r="-2875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62777268" name="Freeform 11"/>
          <p:cNvSpPr/>
          <p:nvPr/>
        </p:nvSpPr>
        <p:spPr bwMode="auto">
          <a:xfrm>
            <a:off x="14908451" y="6686170"/>
            <a:ext cx="830612" cy="278574"/>
          </a:xfrm>
          <a:custGeom>
            <a:avLst/>
            <a:gdLst/>
            <a:ahLst/>
            <a:cxnLst/>
            <a:rect l="l" t="t" r="r" b="b"/>
            <a:pathLst>
              <a:path w="830612" h="278574" fill="norm" stroke="1" extrusionOk="0">
                <a:moveTo>
                  <a:pt x="0" y="0"/>
                </a:moveTo>
                <a:lnTo>
                  <a:pt x="830611" y="0"/>
                </a:lnTo>
                <a:lnTo>
                  <a:pt x="830611" y="278574"/>
                </a:lnTo>
                <a:lnTo>
                  <a:pt x="0" y="278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2038686430" name="Freeform 12"/>
          <p:cNvSpPr/>
          <p:nvPr/>
        </p:nvSpPr>
        <p:spPr bwMode="auto">
          <a:xfrm>
            <a:off x="13185597" y="6686170"/>
            <a:ext cx="776761" cy="526831"/>
          </a:xfrm>
          <a:custGeom>
            <a:avLst/>
            <a:gdLst/>
            <a:ahLst/>
            <a:cxnLst/>
            <a:rect l="l" t="t" r="r" b="b"/>
            <a:pathLst>
              <a:path w="776761" h="526831" fill="norm" stroke="1" extrusionOk="0">
                <a:moveTo>
                  <a:pt x="0" y="0"/>
                </a:moveTo>
                <a:lnTo>
                  <a:pt x="776761" y="0"/>
                </a:lnTo>
                <a:lnTo>
                  <a:pt x="776761" y="526830"/>
                </a:lnTo>
                <a:lnTo>
                  <a:pt x="0" y="526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880406290" name="Freeform 13"/>
          <p:cNvSpPr/>
          <p:nvPr/>
        </p:nvSpPr>
        <p:spPr bwMode="auto">
          <a:xfrm>
            <a:off x="14000458" y="6596608"/>
            <a:ext cx="869893" cy="869893"/>
          </a:xfrm>
          <a:custGeom>
            <a:avLst/>
            <a:gdLst/>
            <a:ahLst/>
            <a:cxnLst/>
            <a:rect l="l" t="t" r="r" b="b"/>
            <a:pathLst>
              <a:path w="869893" h="869893" fill="norm" stroke="1" extrusionOk="0">
                <a:moveTo>
                  <a:pt x="0" y="0"/>
                </a:moveTo>
                <a:lnTo>
                  <a:pt x="869893" y="0"/>
                </a:lnTo>
                <a:lnTo>
                  <a:pt x="869893" y="869893"/>
                </a:lnTo>
                <a:lnTo>
                  <a:pt x="0" y="869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387793302" name="Group 14"/>
          <p:cNvGrpSpPr/>
          <p:nvPr/>
        </p:nvGrpSpPr>
        <p:grpSpPr bwMode="auto">
          <a:xfrm>
            <a:off x="7620000" y="-220352"/>
            <a:ext cx="21126247" cy="11078852"/>
            <a:chOff x="0" y="-137758"/>
            <a:chExt cx="7437183" cy="3900146"/>
          </a:xfrm>
        </p:grpSpPr>
        <p:sp>
          <p:nvSpPr>
            <p:cNvPr id="15" name="Freeform 15"/>
            <p:cNvSpPr/>
            <p:nvPr/>
          </p:nvSpPr>
          <p:spPr bwMode="auto">
            <a:xfrm>
              <a:off x="999163" y="-137758"/>
              <a:ext cx="6438020" cy="3900146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grpSp>
        <p:nvGrpSpPr>
          <p:cNvPr id="20604944" name="Group 17"/>
          <p:cNvGrpSpPr>
            <a:grpSpLocks noChangeAspect="1"/>
          </p:cNvGrpSpPr>
          <p:nvPr/>
        </p:nvGrpSpPr>
        <p:grpSpPr bwMode="auto">
          <a:xfrm rot="-5400000">
            <a:off x="9373087" y="1023039"/>
            <a:ext cx="2185559" cy="736237"/>
            <a:chOff x="0" y="0"/>
            <a:chExt cx="1231938" cy="414998"/>
          </a:xfrm>
        </p:grpSpPr>
        <p:sp>
          <p:nvSpPr>
            <p:cNvPr id="18" name="Freeform 18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16144456" name="TextBox 21"/>
          <p:cNvSpPr txBox="1"/>
          <p:nvPr/>
        </p:nvSpPr>
        <p:spPr bwMode="auto">
          <a:xfrm>
            <a:off x="1028700" y="4977357"/>
            <a:ext cx="8579699" cy="1600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598"/>
              </a:lnSpc>
              <a:defRPr/>
            </a:pPr>
            <a:r>
              <a:rPr lang="es-ES" sz="36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Desarrollo Full Stack con C# y Angular</a:t>
            </a:r>
            <a:endParaRPr/>
          </a:p>
        </p:txBody>
      </p:sp>
      <p:sp>
        <p:nvSpPr>
          <p:cNvPr id="1041271674" name="TextBox 22"/>
          <p:cNvSpPr txBox="1"/>
          <p:nvPr/>
        </p:nvSpPr>
        <p:spPr bwMode="auto">
          <a:xfrm>
            <a:off x="1047750" y="4132744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5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Curso</a:t>
            </a:r>
            <a:endParaRPr/>
          </a:p>
        </p:txBody>
      </p:sp>
      <p:sp>
        <p:nvSpPr>
          <p:cNvPr id="730032275" name="CuadroTexto 22"/>
          <p:cNvSpPr txBox="1"/>
          <p:nvPr/>
        </p:nvSpPr>
        <p:spPr bwMode="auto">
          <a:xfrm>
            <a:off x="1010832" y="6530499"/>
            <a:ext cx="8762874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s-PE" sz="3200">
                <a:solidFill>
                  <a:srgbClr val="EE6D14"/>
                </a:solidFill>
              </a:rPr>
              <a:t>Docente:  </a:t>
            </a:r>
            <a:r>
              <a:rPr lang="es-ES" sz="3200">
                <a:solidFill>
                  <a:srgbClr val="EE6D14"/>
                </a:solidFill>
              </a:rPr>
              <a:t>Edwin Barrientos</a:t>
            </a:r>
            <a:endParaRPr/>
          </a:p>
        </p:txBody>
      </p:sp>
      <p:cxnSp>
        <p:nvCxnSpPr>
          <p:cNvPr id="500389679" name="Conector recto 24"/>
          <p:cNvCxnSpPr/>
          <p:nvPr/>
        </p:nvCxnSpPr>
        <p:spPr bwMode="auto">
          <a:xfrm>
            <a:off x="1047750" y="6610183"/>
            <a:ext cx="80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90074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940281398" name="Group 3"/>
          <p:cNvGrpSpPr/>
          <p:nvPr/>
        </p:nvGrpSpPr>
        <p:grpSpPr bwMode="auto">
          <a:xfrm>
            <a:off x="-187438" y="4377398"/>
            <a:ext cx="18662876" cy="6009477"/>
            <a:chOff x="0" y="0"/>
            <a:chExt cx="2891368" cy="931025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2891368" cy="931025"/>
            </a:xfrm>
            <a:custGeom>
              <a:avLst/>
              <a:gdLst/>
              <a:ahLst/>
              <a:cxnLst/>
              <a:rect l="l" t="t" r="r" b="b"/>
              <a:pathLst>
                <a:path w="2891368" h="931025" fill="norm" stroke="1" extrusionOk="0">
                  <a:moveTo>
                    <a:pt x="0" y="0"/>
                  </a:moveTo>
                  <a:lnTo>
                    <a:pt x="2891368" y="0"/>
                  </a:lnTo>
                  <a:lnTo>
                    <a:pt x="2891368" y="931025"/>
                  </a:lnTo>
                  <a:lnTo>
                    <a:pt x="0" y="931025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4535" r="0" b="-49941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288659993" name="TextBox 8"/>
          <p:cNvSpPr txBox="1"/>
          <p:nvPr/>
        </p:nvSpPr>
        <p:spPr bwMode="auto">
          <a:xfrm>
            <a:off x="1109269" y="1419709"/>
            <a:ext cx="16587931" cy="1600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598"/>
              </a:lnSpc>
              <a:defRPr/>
            </a:pPr>
            <a:r>
              <a:rPr lang="es-ES" sz="48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APIs del flujo de aprobación</a:t>
            </a:r>
            <a:endParaRPr/>
          </a:p>
        </p:txBody>
      </p:sp>
      <p:grpSp>
        <p:nvGrpSpPr>
          <p:cNvPr id="894212724" name="Group 9"/>
          <p:cNvGrpSpPr/>
          <p:nvPr/>
        </p:nvGrpSpPr>
        <p:grpSpPr bwMode="auto">
          <a:xfrm>
            <a:off x="0" y="4377398"/>
            <a:ext cx="18288000" cy="8144679"/>
            <a:chOff x="0" y="0"/>
            <a:chExt cx="6438020" cy="2867214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0"/>
              <a:ext cx="6438020" cy="2867214"/>
            </a:xfrm>
            <a:custGeom>
              <a:avLst/>
              <a:gdLst/>
              <a:ahLst/>
              <a:cxnLst/>
              <a:rect l="l" t="t" r="r" b="b"/>
              <a:pathLst>
                <a:path w="6438020" h="286721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2867214"/>
                  </a:lnTo>
                  <a:lnTo>
                    <a:pt x="0" y="286721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7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66675"/>
              <a:ext cx="6438020" cy="293388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grpSp>
        <p:nvGrpSpPr>
          <p:cNvPr id="1184583054" name="Group 12"/>
          <p:cNvGrpSpPr>
            <a:grpSpLocks noChangeAspect="1"/>
          </p:cNvGrpSpPr>
          <p:nvPr/>
        </p:nvGrpSpPr>
        <p:grpSpPr bwMode="auto">
          <a:xfrm>
            <a:off x="1028700" y="4009279"/>
            <a:ext cx="2185559" cy="736237"/>
            <a:chOff x="0" y="0"/>
            <a:chExt cx="1231938" cy="414998"/>
          </a:xfrm>
        </p:grpSpPr>
        <p:sp>
          <p:nvSpPr>
            <p:cNvPr id="13" name="Freeform 13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598291645" name="TextBox 16"/>
          <p:cNvSpPr txBox="1"/>
          <p:nvPr/>
        </p:nvSpPr>
        <p:spPr bwMode="auto">
          <a:xfrm>
            <a:off x="1192558" y="807558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000" b="1">
                <a:solidFill>
                  <a:srgbClr val="F57D30"/>
                </a:solidFill>
                <a:latin typeface="Poppins Bold"/>
                <a:ea typeface="Poppins Bold"/>
                <a:cs typeface="Poppins Bold"/>
              </a:rPr>
              <a:t>Sesión 6 — Módulo 2:</a:t>
            </a:r>
            <a:endParaRPr/>
          </a:p>
        </p:txBody>
      </p:sp>
      <p:grpSp>
        <p:nvGrpSpPr>
          <p:cNvPr id="1813962660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8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9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839590268" name="Rectángulo 4"/>
          <p:cNvSpPr/>
          <p:nvPr/>
        </p:nvSpPr>
        <p:spPr bwMode="auto">
          <a:xfrm>
            <a:off x="2376945" y="5143500"/>
            <a:ext cx="13396454" cy="3723790"/>
          </a:xfrm>
          <a:prstGeom prst="rect">
            <a:avLst/>
          </a:prstGeom>
          <a:solidFill>
            <a:srgbClr val="FFFFFF">
              <a:alpha val="54118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PE"/>
          </a:p>
        </p:txBody>
      </p:sp>
      <p:sp>
        <p:nvSpPr>
          <p:cNvPr id="1563960745" name="TextBox 8"/>
          <p:cNvSpPr txBox="1"/>
          <p:nvPr/>
        </p:nvSpPr>
        <p:spPr bwMode="auto">
          <a:xfrm>
            <a:off x="3080514" y="5858181"/>
            <a:ext cx="12001084" cy="488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defRPr/>
            </a:pPr>
            <a:r>
              <a:rPr lang="es-PE" sz="3200" b="1">
                <a:latin typeface="Poppins"/>
                <a:cs typeface="Poppins"/>
              </a:rPr>
              <a:t>Objetivo del módulo: </a:t>
            </a:r>
            <a:r>
              <a:rPr lang="es-ES" sz="3200" b="1">
                <a:latin typeface="Poppins"/>
                <a:cs typeface="Poppins"/>
              </a:rPr>
              <a:t>construir los endpoints del flujo de negocio que gobiernan las transiciones de estado, autorizaciones por rol y la trazabilidad inmutable de solicitudes.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068399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907739783" name="Group 9"/>
          <p:cNvGrpSpPr>
            <a:grpSpLocks noChangeAspect="1"/>
          </p:cNvGrpSpPr>
          <p:nvPr/>
        </p:nvGrpSpPr>
        <p:grpSpPr bwMode="auto">
          <a:xfrm>
            <a:off x="15073741" y="8522063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475912823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grpSp>
        <p:nvGrpSpPr>
          <p:cNvPr id="1824530624" name="Group 3"/>
          <p:cNvGrpSpPr/>
          <p:nvPr/>
        </p:nvGrpSpPr>
        <p:grpSpPr bwMode="auto">
          <a:xfrm>
            <a:off x="-304800" y="-216840"/>
            <a:ext cx="8504210" cy="109991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689202194" name="Group 14"/>
          <p:cNvGrpSpPr/>
          <p:nvPr/>
        </p:nvGrpSpPr>
        <p:grpSpPr bwMode="auto">
          <a:xfrm>
            <a:off x="-1651256" y="-216840"/>
            <a:ext cx="10309690" cy="10999140"/>
            <a:chOff x="0" y="0"/>
            <a:chExt cx="6438020" cy="3659554"/>
          </a:xfrm>
        </p:grpSpPr>
        <p:sp>
          <p:nvSpPr>
            <p:cNvPr id="21" name="Freeform 15"/>
            <p:cNvSpPr/>
            <p:nvPr/>
          </p:nvSpPr>
          <p:spPr bwMode="auto">
            <a:xfrm>
              <a:off x="0" y="0"/>
              <a:ext cx="6438020" cy="3659554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2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sp>
        <p:nvSpPr>
          <p:cNvPr id="1610241063" name="TextBox 4"/>
          <p:cNvSpPr txBox="1"/>
          <p:nvPr/>
        </p:nvSpPr>
        <p:spPr bwMode="auto">
          <a:xfrm>
            <a:off x="9594256" y="2551515"/>
            <a:ext cx="6909292" cy="583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defRPr/>
            </a:pPr>
            <a:r>
              <a:rPr lang="es-PE" sz="50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Agenda</a:t>
            </a:r>
            <a:endParaRPr/>
          </a:p>
        </p:txBody>
      </p:sp>
      <p:sp>
        <p:nvSpPr>
          <p:cNvPr id="1060153805" name="CuadroTexto 5"/>
          <p:cNvSpPr txBox="1"/>
          <p:nvPr/>
        </p:nvSpPr>
        <p:spPr bwMode="auto">
          <a:xfrm>
            <a:off x="9594255" y="3186160"/>
            <a:ext cx="7191703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s-ES" sz="2800"/>
              <a:t>Anatomía de un flujo corporativo: Actores y responsabilidades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Endpoints de transición: Enviar, Revisar, Aprobar, Rechazar y Pagar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Matriz de límites de autorización por monto y rol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Trazabilidad e historial inmutable en la tabla Aprobaciones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Cierre financiero en Tesorería y conciliación de pagos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60267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622520221" name="Group 9"/>
          <p:cNvGrpSpPr>
            <a:grpSpLocks noChangeAspect="1"/>
          </p:cNvGrpSpPr>
          <p:nvPr/>
        </p:nvGrpSpPr>
        <p:grpSpPr bwMode="auto">
          <a:xfrm>
            <a:off x="15073741" y="8522063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01682865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95691980" name="TextBox 8"/>
          <p:cNvSpPr txBox="1"/>
          <p:nvPr/>
        </p:nvSpPr>
        <p:spPr bwMode="auto">
          <a:xfrm>
            <a:off x="9358416" y="4156678"/>
            <a:ext cx="8234999" cy="823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defRPr/>
            </a:pPr>
            <a:r>
              <a:rPr lang="es-ES" sz="54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APIs del flujo de aprobación</a:t>
            </a:r>
            <a:endParaRPr/>
          </a:p>
        </p:txBody>
      </p:sp>
      <p:sp>
        <p:nvSpPr>
          <p:cNvPr id="946765375" name="TextBox 16"/>
          <p:cNvSpPr txBox="1"/>
          <p:nvPr/>
        </p:nvSpPr>
        <p:spPr bwMode="auto">
          <a:xfrm>
            <a:off x="9340832" y="2773767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000" b="1">
                <a:solidFill>
                  <a:srgbClr val="F57D30"/>
                </a:solidFill>
                <a:latin typeface="Poppins Bold"/>
                <a:ea typeface="Poppins Bold"/>
                <a:cs typeface="Poppins Bold"/>
              </a:rPr>
              <a:t>Sesión 1:</a:t>
            </a:r>
            <a:endParaRPr/>
          </a:p>
        </p:txBody>
      </p:sp>
      <p:grpSp>
        <p:nvGrpSpPr>
          <p:cNvPr id="93758389" name="Group 3"/>
          <p:cNvGrpSpPr/>
          <p:nvPr/>
        </p:nvGrpSpPr>
        <p:grpSpPr bwMode="auto">
          <a:xfrm>
            <a:off x="-304800" y="-216840"/>
            <a:ext cx="8504210" cy="109991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509716494" name="Group 14"/>
          <p:cNvGrpSpPr/>
          <p:nvPr/>
        </p:nvGrpSpPr>
        <p:grpSpPr bwMode="auto">
          <a:xfrm>
            <a:off x="-1651256" y="-216840"/>
            <a:ext cx="10309690" cy="10999140"/>
            <a:chOff x="0" y="0"/>
            <a:chExt cx="6438020" cy="3659554"/>
          </a:xfrm>
        </p:grpSpPr>
        <p:sp>
          <p:nvSpPr>
            <p:cNvPr id="21" name="Freeform 15"/>
            <p:cNvSpPr/>
            <p:nvPr/>
          </p:nvSpPr>
          <p:spPr bwMode="auto">
            <a:xfrm>
              <a:off x="0" y="0"/>
              <a:ext cx="6438020" cy="3659554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2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Flujos de dinero en la empresa moderna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5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El corazón operativo de la organización: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la salida de dinero requiere control estricto, separación de funciones y auditoría forense para evitar fraudes y pérdidas.</a:t>
            </a:r>
          </a:p>
        </p:txBody>
      </p:sp>
      <p:sp>
        <p:nvSpPr>
          <p:cNvPr id="5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🛡</a:t>
            </a:r>
          </a:p>
        </p:txBody>
      </p:sp>
      <p:sp>
        <p:nvSpPr>
          <p:cNvPr id="5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Segregación de roles</a:t>
            </a:r>
          </a:p>
        </p:txBody>
      </p:sp>
      <p:sp>
        <p:nvSpPr>
          <p:cNvPr id="5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Quien gasta no puede revisar, quien revisa no puede autorizar.</a:t>
            </a:r>
          </a:p>
        </p:txBody>
      </p:sp>
      <p:sp>
        <p:nvSpPr>
          <p:cNvPr id="5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💰</a:t>
            </a:r>
          </a:p>
        </p:txBody>
      </p:sp>
      <p:sp>
        <p:nvSpPr>
          <p:cNvPr id="5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Escalamiento por monto</a:t>
            </a:r>
          </a:p>
        </p:txBody>
      </p:sp>
      <p:sp>
        <p:nvSpPr>
          <p:cNvPr id="5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A mayor importe, mayor jerarquía requerida para la aprobación.</a:t>
            </a:r>
          </a:p>
        </p:txBody>
      </p:sp>
      <p:sp>
        <p:nvSpPr>
          <p:cNvPr id="5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📜</a:t>
            </a:r>
          </a:p>
        </p:txBody>
      </p:sp>
      <p:sp>
        <p:nvSpPr>
          <p:cNvPr id="5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Inmutabilidad</a:t>
            </a:r>
          </a:p>
        </p:txBody>
      </p:sp>
      <p:sp>
        <p:nvSpPr>
          <p:cNvPr id="5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Cada decisión queda grabada en piedra: fecha, autor y comentario.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02495916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703955894" name="TextBox 5"/>
          <p:cNvSpPr txBox="1"/>
          <p:nvPr/>
        </p:nvSpPr>
        <p:spPr bwMode="auto">
          <a:xfrm>
            <a:off x="1295400" y="795278"/>
            <a:ext cx="8751602" cy="528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PE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PREGUNTAS…</a:t>
            </a:r>
            <a:endParaRPr/>
          </a:p>
        </p:txBody>
      </p:sp>
      <p:grpSp>
        <p:nvGrpSpPr>
          <p:cNvPr id="1297811220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140021134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22609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1884417158" name="CuadroTexto 1"/>
          <p:cNvSpPr txBox="1"/>
          <p:nvPr/>
        </p:nvSpPr>
        <p:spPr bwMode="auto">
          <a:xfrm>
            <a:off x="1524135" y="2738232"/>
            <a:ext cx="15245486" cy="579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s-ES" sz="2600" b="1">
                <a:latin typeface="Roboto"/>
              </a:rPr>
              <a:t>¿Cómo evitamos que un usuario apruebe su propia solicitud de dinero?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¿Qué ocurre si una solicitud supera el límite de autorización de quien intenta aprobarla?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¿Por qué las transiciones de estado se modelan con POST o PATCH y no con PUT?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¿Cómo garantizamos que el historial de aprobaciones nunca pueda ser editado ni borrado?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¿Qué datos obligatorios debe registrar Tesorería al ejecutar el desembolso?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17057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33220437" name="TextBox 3"/>
          <p:cNvSpPr txBox="1"/>
          <p:nvPr/>
        </p:nvSpPr>
        <p:spPr bwMode="auto">
          <a:xfrm>
            <a:off x="5826929" y="1152525"/>
            <a:ext cx="5560289" cy="583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defRPr/>
            </a:pPr>
            <a:r>
              <a:rPr lang="es-PE" sz="50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Conclusiones</a:t>
            </a:r>
            <a:endParaRPr/>
          </a:p>
        </p:txBody>
      </p:sp>
      <p:grpSp>
        <p:nvGrpSpPr>
          <p:cNvPr id="914401435" name="Group 4"/>
          <p:cNvGrpSpPr/>
          <p:nvPr/>
        </p:nvGrpSpPr>
        <p:grpSpPr bwMode="auto">
          <a:xfrm>
            <a:off x="0" y="1"/>
            <a:ext cx="4542912" cy="10287000"/>
            <a:chOff x="0" y="0"/>
            <a:chExt cx="1365125" cy="2989053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1365125" cy="2989053"/>
            </a:xfrm>
            <a:custGeom>
              <a:avLst/>
              <a:gdLst/>
              <a:ahLst/>
              <a:cxnLst/>
              <a:rect l="l" t="t" r="r" b="b"/>
              <a:pathLst>
                <a:path w="1365125" h="2989053" fill="norm" stroke="1" extrusionOk="0">
                  <a:moveTo>
                    <a:pt x="0" y="0"/>
                  </a:moveTo>
                  <a:lnTo>
                    <a:pt x="1365125" y="0"/>
                  </a:lnTo>
                  <a:lnTo>
                    <a:pt x="1365125" y="2989053"/>
                  </a:lnTo>
                  <a:lnTo>
                    <a:pt x="0" y="2989053"/>
                  </a:lnTo>
                  <a:close/>
                </a:path>
              </a:pathLst>
            </a:custGeom>
            <a:blipFill rotWithShape="1">
              <a:blip r:embed="rId4"/>
              <a:stretch>
                <a:fillRect l="-144629" t="0" r="-144629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770516098" name="Group 7"/>
          <p:cNvGrpSpPr>
            <a:grpSpLocks noChangeAspect="1"/>
          </p:cNvGrpSpPr>
          <p:nvPr/>
        </p:nvGrpSpPr>
        <p:grpSpPr bwMode="auto">
          <a:xfrm rot="-5400000">
            <a:off x="3450133" y="1216207"/>
            <a:ext cx="2185559" cy="736237"/>
            <a:chOff x="0" y="0"/>
            <a:chExt cx="1231938" cy="414998"/>
          </a:xfrm>
        </p:grpSpPr>
        <p:sp>
          <p:nvSpPr>
            <p:cNvPr id="8" name="Freeform 8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39397620" name="Group 11"/>
          <p:cNvGrpSpPr/>
          <p:nvPr/>
        </p:nvGrpSpPr>
        <p:grpSpPr bwMode="auto">
          <a:xfrm>
            <a:off x="215779" y="293877"/>
            <a:ext cx="3796083" cy="1442140"/>
            <a:chOff x="0" y="0"/>
            <a:chExt cx="3731719" cy="1122625"/>
          </a:xfrm>
        </p:grpSpPr>
        <p:sp>
          <p:nvSpPr>
            <p:cNvPr id="12" name="TextBox 12"/>
            <p:cNvSpPr txBox="1"/>
            <p:nvPr/>
          </p:nvSpPr>
          <p:spPr bwMode="auto">
            <a:xfrm>
              <a:off x="1413024" y="749031"/>
              <a:ext cx="2055291" cy="22609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7001" name="tp"/>
          <p:cNvSpPr txBox="1"/>
          <p:nvPr/>
        </p:nvSpPr>
        <p:spPr>
          <a:xfrm>
            <a:off x="5200000" y="2300000"/>
            <a:ext cx="12500000" cy="6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Un flujo de aprobación robusto protege el patrimonio de la empresa mediante reglas inquebrantables.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Cada endpoint de transición valida el rol del usuario, el estado actual y el monto solicitado.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Los límites de aprobación (Jefatura, Gerencia, Directorio) escalan automáticamente la solicitud.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La tabla Aprobaciones ofrece un registro forense inmutable con fecha, responsable y comentario.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El pago por Tesorería cierra el ciclo de vida del documento registrando el comprobante y medio de pago.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72734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665207640" name="Group 3"/>
          <p:cNvGrpSpPr/>
          <p:nvPr/>
        </p:nvGrpSpPr>
        <p:grpSpPr bwMode="auto">
          <a:xfrm>
            <a:off x="-1" y="-1"/>
            <a:ext cx="18288001" cy="8226262"/>
            <a:chOff x="0" y="0"/>
            <a:chExt cx="5335253" cy="239055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335253" cy="2390552"/>
            </a:xfrm>
            <a:custGeom>
              <a:avLst/>
              <a:gdLst/>
              <a:ahLst/>
              <a:cxnLst/>
              <a:rect l="l" t="t" r="r" b="b"/>
              <a:pathLst>
                <a:path w="5335253" h="2390552" fill="norm" stroke="1" extrusionOk="0">
                  <a:moveTo>
                    <a:pt x="0" y="0"/>
                  </a:moveTo>
                  <a:lnTo>
                    <a:pt x="5335253" y="0"/>
                  </a:lnTo>
                  <a:lnTo>
                    <a:pt x="5335253" y="2390552"/>
                  </a:lnTo>
                  <a:lnTo>
                    <a:pt x="0" y="2390552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12769" r="0" b="-12769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596994680" name="TextBox 5"/>
          <p:cNvSpPr txBox="1"/>
          <p:nvPr/>
        </p:nvSpPr>
        <p:spPr bwMode="auto">
          <a:xfrm>
            <a:off x="4768199" y="4575175"/>
            <a:ext cx="8751602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defRPr/>
            </a:pPr>
            <a:r>
              <a:rPr lang="es-PE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GRACIAS</a:t>
            </a:r>
            <a:endParaRPr/>
          </a:p>
        </p:txBody>
      </p:sp>
      <p:grpSp>
        <p:nvGrpSpPr>
          <p:cNvPr id="1684371580" name="Group 6"/>
          <p:cNvGrpSpPr>
            <a:grpSpLocks noChangeAspect="1"/>
          </p:cNvGrpSpPr>
          <p:nvPr/>
        </p:nvGrpSpPr>
        <p:grpSpPr bwMode="auto">
          <a:xfrm>
            <a:off x="8051220" y="7858143"/>
            <a:ext cx="2185559" cy="736237"/>
            <a:chOff x="0" y="0"/>
            <a:chExt cx="1231938" cy="414998"/>
          </a:xfrm>
        </p:grpSpPr>
        <p:sp>
          <p:nvSpPr>
            <p:cNvPr id="7" name="Freeform 7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El mapa de ruta de una Solicitud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1" name="r"/>
          <p:cNvSpPr/>
          <p:nvPr/>
        </p:nvSpPr>
        <p:spPr>
          <a:xfrm>
            <a:off x="1300000" y="3050000"/>
            <a:ext cx="15700000" cy="60000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 w="0">
            <a:solidFill>
              <a:srgbClr val="333333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902" name="e"/>
          <p:cNvSpPr/>
          <p:nvPr/>
        </p:nvSpPr>
        <p:spPr>
          <a:xfrm>
            <a:off x="2200000" y="2900000"/>
            <a:ext cx="360000" cy="360000"/>
          </a:xfrm>
          <a:prstGeom prst="ellipse">
            <a:avLst/>
          </a:prstGeom>
          <a:solidFill>
            <a:srgbClr val="1F6FEB"/>
          </a:solidFill>
        </p:spPr>
        <p:txBody>
          <a:bodyPr anchor="ctr"/>
          <a:lstStyle/>
          <a:p>
            <a:pPr algn="ctr"/>
            <a:r>
              <a:rPr lang="es-PE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031" name="r"/>
          <p:cNvSpPr/>
          <p:nvPr/>
        </p:nvSpPr>
        <p:spPr>
          <a:xfrm>
            <a:off x="1300000" y="4000000"/>
            <a:ext cx="5000000" cy="600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 w="0">
            <a:solidFill>
              <a:srgbClr val="1F6FEB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9032" name="r"/>
          <p:cNvSpPr/>
          <p:nvPr/>
        </p:nvSpPr>
        <p:spPr>
          <a:xfrm>
            <a:off x="1300000" y="4060000"/>
            <a:ext cx="5000000" cy="4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9033" name="t"/>
          <p:cNvSpPr txBox="1"/>
          <p:nvPr/>
        </p:nvSpPr>
        <p:spPr>
          <a:xfrm>
            <a:off x="1500000" y="4250000"/>
            <a:ext cx="46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Borrador y Envío</a:t>
            </a:r>
          </a:p>
        </p:txBody>
      </p:sp>
      <p:sp>
        <p:nvSpPr>
          <p:cNvPr id="9034" name="tp"/>
          <p:cNvSpPr txBox="1"/>
          <p:nvPr/>
        </p:nvSpPr>
        <p:spPr>
          <a:xfrm>
            <a:off x="1450000" y="4900000"/>
            <a:ext cx="4700000" cy="38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Usuario crea y carga gastos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Valida detalle mayor a cero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POST /enviar =&gt; Enviada</a:t>
            </a:r>
          </a:p>
        </p:txBody>
      </p:sp>
      <p:sp>
        <p:nvSpPr>
          <p:cNvPr id="904" name="e"/>
          <p:cNvSpPr/>
          <p:nvPr/>
        </p:nvSpPr>
        <p:spPr>
          <a:xfrm>
            <a:off x="7500000" y="2900000"/>
            <a:ext cx="360000" cy="360000"/>
          </a:xfrm>
          <a:prstGeom prst="ellipse">
            <a:avLst/>
          </a:prstGeom>
          <a:solidFill>
            <a:srgbClr val="2EA84F"/>
          </a:solidFill>
        </p:spPr>
        <p:txBody>
          <a:bodyPr anchor="ctr"/>
          <a:lstStyle/>
          <a:p>
            <a:pPr algn="ctr"/>
            <a:r>
              <a:rPr lang="es-PE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051" name="r"/>
          <p:cNvSpPr/>
          <p:nvPr/>
        </p:nvSpPr>
        <p:spPr>
          <a:xfrm>
            <a:off x="6600000" y="4000000"/>
            <a:ext cx="5000000" cy="60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 w="0">
            <a:solidFill>
              <a:srgbClr val="2EA84F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9052" name="r"/>
          <p:cNvSpPr/>
          <p:nvPr/>
        </p:nvSpPr>
        <p:spPr>
          <a:xfrm>
            <a:off x="6600000" y="4060000"/>
            <a:ext cx="5000000" cy="4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9053" name="t"/>
          <p:cNvSpPr txBox="1"/>
          <p:nvPr/>
        </p:nvSpPr>
        <p:spPr>
          <a:xfrm>
            <a:off x="6800000" y="4250000"/>
            <a:ext cx="46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Revisión y Aprobación</a:t>
            </a:r>
          </a:p>
        </p:txBody>
      </p:sp>
      <p:sp>
        <p:nvSpPr>
          <p:cNvPr id="9054" name="tp"/>
          <p:cNvSpPr txBox="1"/>
          <p:nvPr/>
        </p:nvSpPr>
        <p:spPr>
          <a:xfrm>
            <a:off x="6750000" y="4900000"/>
            <a:ext cx="4700000" cy="38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Revisor audita sustentos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Aprobador según límite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Aprobada o Rechazada</a:t>
            </a:r>
          </a:p>
        </p:txBody>
      </p:sp>
      <p:sp>
        <p:nvSpPr>
          <p:cNvPr id="906" name="e"/>
          <p:cNvSpPr/>
          <p:nvPr/>
        </p:nvSpPr>
        <p:spPr>
          <a:xfrm>
            <a:off x="12800000" y="2900000"/>
            <a:ext cx="360000" cy="360000"/>
          </a:xfrm>
          <a:prstGeom prst="ellipse">
            <a:avLst/>
          </a:prstGeom>
          <a:solidFill>
            <a:srgbClr val="F57D30"/>
          </a:solidFill>
        </p:spPr>
        <p:txBody>
          <a:bodyPr anchor="ctr"/>
          <a:lstStyle/>
          <a:p>
            <a:pPr algn="ctr"/>
            <a:r>
              <a:rPr lang="es-PE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071" name="r"/>
          <p:cNvSpPr/>
          <p:nvPr/>
        </p:nvSpPr>
        <p:spPr>
          <a:xfrm>
            <a:off x="11900000" y="4000000"/>
            <a:ext cx="5000000" cy="60000"/>
          </a:xfrm>
          <a:prstGeom prst="roundRect">
            <a:avLst>
              <a:gd name="adj" fmla="val 5000"/>
            </a:avLst>
          </a:prstGeom>
          <a:solidFill>
            <a:srgbClr val="F57D30"/>
          </a:solidFill>
          <a:ln w="0">
            <a:solidFill>
              <a:srgbClr val="F57D30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9072" name="r"/>
          <p:cNvSpPr/>
          <p:nvPr/>
        </p:nvSpPr>
        <p:spPr>
          <a:xfrm>
            <a:off x="11900000" y="4060000"/>
            <a:ext cx="5000000" cy="4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9073" name="t"/>
          <p:cNvSpPr txBox="1"/>
          <p:nvPr/>
        </p:nvSpPr>
        <p:spPr>
          <a:xfrm>
            <a:off x="12100000" y="4250000"/>
            <a:ext cx="46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Desembolso y Cierre</a:t>
            </a:r>
          </a:p>
        </p:txBody>
      </p:sp>
      <p:sp>
        <p:nvSpPr>
          <p:cNvPr id="9074" name="tp"/>
          <p:cNvSpPr txBox="1"/>
          <p:nvPr/>
        </p:nvSpPr>
        <p:spPr>
          <a:xfrm>
            <a:off x="12050000" y="4900000"/>
            <a:ext cx="4700000" cy="38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Tesorería recibe autorizada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Registra pago y comprobante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Estado final: Pagada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Endpoint: Enviar Solicitud a Revisión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0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EnviarEndpoint.cs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[HttpPost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"{id:int}/enviar"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)]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IActionResult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Enviar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solicitud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_uow.Solicitudes.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ObtenerConDetallesAsync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(solicitud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is null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NotFound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(!solicitud.Detalles.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Any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BadRequest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"No puede enviar una solicitud sin detalles de gasto."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solicitud.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EnviarARevision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CompletarAsync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mensaje =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"Solicitud enviada exitosamente."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, estado = solicitud.Estado });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Endpoint: Revisión de Sustentos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1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RevisarEndpoint.cs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[HttpPost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"{id:int}/revisar"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)]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IActionResult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Revisar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RevisarDto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dto)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solicitud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_uow.Solicitudes.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ObtenerConDetallesAsync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(solicitud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is null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NotFound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(dto.Conforme)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solicitud.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MarcarEnRevision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(dto.RevisorId, dto.Observaciones);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else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solicitud.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ObservarYDevolver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(dto.RevisorId, dto.Observaciones);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CompletarAsync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estado = solicitud.Estado });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Límites de aprobación por monto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2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Niveles jerárquicos automáticos: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el sistema valida si el monto solicitado cae dentro del límite legal del aprobador autenticado.</a:t>
            </a:r>
          </a:p>
        </p:txBody>
      </p:sp>
      <p:sp>
        <p:nvSpPr>
          <p:cNvPr id="12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👤</a:t>
            </a:r>
          </a:p>
        </p:txBody>
      </p:sp>
      <p:sp>
        <p:nvSpPr>
          <p:cNvPr id="12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Jefatura de Área</a:t>
            </a:r>
          </a:p>
        </p:txBody>
      </p:sp>
      <p:sp>
        <p:nvSpPr>
          <p:cNvPr id="12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Hasta S/ 1,000.00. Gastos operativos menores, pasajes y viáticos cortos.</a:t>
            </a:r>
          </a:p>
        </p:txBody>
      </p:sp>
      <p:sp>
        <p:nvSpPr>
          <p:cNvPr id="12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💼</a:t>
            </a:r>
          </a:p>
        </p:txBody>
      </p:sp>
      <p:sp>
        <p:nvSpPr>
          <p:cNvPr id="12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Gerencia</a:t>
            </a:r>
          </a:p>
        </p:txBody>
      </p:sp>
      <p:sp>
        <p:nvSpPr>
          <p:cNvPr id="12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Hasta S/ 5,000.00. Equipamiento, capacitaciones y compras departamentales.</a:t>
            </a:r>
          </a:p>
        </p:txBody>
      </p:sp>
      <p:sp>
        <p:nvSpPr>
          <p:cNvPr id="12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🏢</a:t>
            </a:r>
          </a:p>
        </p:txBody>
      </p:sp>
      <p:sp>
        <p:nvSpPr>
          <p:cNvPr id="12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Directorio</a:t>
            </a:r>
          </a:p>
        </p:txBody>
      </p:sp>
      <p:sp>
        <p:nvSpPr>
          <p:cNvPr id="12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Más de S/ 5,000.00 sin límite. Inversiones mayores y proyectos estratégicos.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Segregación de funciones (SoD)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3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ReglasAprobacion.cs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La regla vive en el dominio: blindaje absoluto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void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ValidarAutorizacionAprobar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Usuario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aprobador)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(SolicitanteId == aprobador.Id)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throw 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ReglaDominioException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"Conflicto de interés: el solicitante no puede aprobar su propia solicitud."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limiteMaximo = aprobador.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ObtenerLimiteAprobacion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(MontoTotal &gt; limiteMaximo)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throw 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ReglaDominioException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\$"El monto ({MontoTotal:C}) supera el límite de su rol ({limiteMaximo:C}). Debe escalar."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Endpoint: Aprobar Solicitud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4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AprobarEndpoint.cs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[HttpPost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"{id:int}/aprobar"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)]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IActionResult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Aprobar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DecisionDto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dto)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solicitud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_uow.Solicitudes.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ObtenerConDetallesAsync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aprobador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_uow.Usuarios.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ObtenerConRolesAsync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(dto.ResponsableId);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solicitud.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ValidarAutorizacionAprobar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(aprobador!);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solicitud.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Aprobar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(aprobador!.Id, dto.Comentario);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CompletarAsync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mensaje =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"Aprobada satisfactoriamente."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, estado = solicitud.Estado });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Endpoint: Rechazar con Motivo Obligatorio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5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RechazarEndpoint.cs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[HttpPost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"{id:int}/rechazar"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)]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IActionResult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Rechazar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RechazoDto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dto)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IsNullOrWhiteSpace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(dto.Motivo))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BadRequest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"El motivo de rechazo es estrictamente obligatorio."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solicitud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_uow.Solicitudes.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ObtenerConDetallesAsync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solicitud.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Rechazar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(dto.ResponsableId, dto.Motivo);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CompletarAsync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mensaje =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"Solicitud rechazada."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, estado = solicitud.Estado });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Historial inmutable en Aprobación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6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Trazabilidad.cs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Cada paso inserta un nuevo registro de auditoría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void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RegistrarAprobacion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responsableId,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EstadoSolicitud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nuevoEstado,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? obs)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historial =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Aprobacion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SolicitudId =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this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.Id,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ResponsableId = responsableId,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EstadoResultante = nuevoEstado,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Comentario = obs,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Fecha =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DateTime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.UtcNow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Aprobaciones.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Add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(historial);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Estado = nuevoEstado;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Cierre financiero: Desembolso en Tesorería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7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PagarEndpoint.cs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[HttpPost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"{id:int}/pagar"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)]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IActionResult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Pagar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PagarDto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dto)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solicitud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_uow.Solicitudes.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ObtenerConDetallesAsync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(solicitud.Estado !=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EstadoSolicitud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.Aprobada)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BadRequest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"Solo se pueden pagar solicitudes previamente aprobadas."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solicitud.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RegistrarPago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(dto.TesoreroId, dto.MedioPago, dto.ReferenciaOperacion, dto.MontoPagado);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CompletarAsync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mensaje =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"Pago registrado y solicitud liquidada."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});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La entidad MovimientoTesoreria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8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FFE9D6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F57D30"/>
                </a:solidFill>
                <a:latin typeface="Roboto"/>
              </a:rPr>
              <a:t>El documento bancario que cuadra la contabilidad: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registra la evidencia fehaciente de la transferencia o desembolso económico.</a:t>
            </a:r>
          </a:p>
        </p:txBody>
      </p:sp>
      <p:sp>
        <p:nvSpPr>
          <p:cNvPr id="18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💳</a:t>
            </a:r>
          </a:p>
        </p:txBody>
      </p:sp>
      <p:sp>
        <p:nvSpPr>
          <p:cNvPr id="18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Medio de pago</a:t>
            </a:r>
          </a:p>
        </p:txBody>
      </p:sp>
      <p:sp>
        <p:nvSpPr>
          <p:cNvPr id="18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Transferencia BCP/BBVA, Cheque de gerencia, Efectivo en caja chica.</a:t>
            </a:r>
          </a:p>
        </p:txBody>
      </p:sp>
      <p:sp>
        <p:nvSpPr>
          <p:cNvPr id="18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🔗</a:t>
            </a:r>
          </a:p>
        </p:txBody>
      </p:sp>
      <p:sp>
        <p:nvSpPr>
          <p:cNvPr id="18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Referencia única</a:t>
            </a:r>
          </a:p>
        </p:txBody>
      </p:sp>
      <p:sp>
        <p:nvSpPr>
          <p:cNvPr id="18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Número de operación bancaria para conciliación contable automática.</a:t>
            </a:r>
          </a:p>
        </p:txBody>
      </p:sp>
      <p:sp>
        <p:nvSpPr>
          <p:cNvPr id="18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⚖</a:t>
            </a:r>
          </a:p>
        </p:txBody>
      </p:sp>
      <p:sp>
        <p:nvSpPr>
          <p:cNvPr id="18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Monto pagado</a:t>
            </a:r>
          </a:p>
        </p:txBody>
      </p:sp>
      <p:sp>
        <p:nvSpPr>
          <p:cNvPr id="18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Puede diferir por retenciones de ley, comisiones o redondeos autorizados.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Prevención de doble aprobación concurrente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9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Concurrencia.cs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RowVersion en SQL / ConcurrencyToken en EF Core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class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 {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get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byte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[ ] RowVersion {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get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 } = [];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Si dos aprobadores hacen click al mismo segundo, el segundo recibe DbUpdateConcurrencyException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El sistema rechaza la segunda colisión sin duplicar desembolsos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Timeline DTO para el Frontend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0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TimelineDto.cs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El frontend Angular consumirá la línea de tiempo completa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record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TimelinePasoDto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    string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Estado,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ResponsableNombre,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DateTime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Fecha,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? Comentario);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record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SolicitudDetalleCompletoDto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    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Motivo,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decimal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MontoTotal,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Estado,</a:t>
            </a:r>
          </a:p>
          <a:p>
            <a:pPr algn="l"/>
            <a:r>
              <a:rPr lang="es-PE" sz="1600">
                <a:solidFill>
                  <a:srgbClr val="4EC9B0"/>
                </a:solidFill>
                <a:latin typeface="Courier New"/>
              </a:rPr>
              <a:t>    List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TimelinePasoDto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HistorialAprobaciones,</a:t>
            </a:r>
          </a:p>
          <a:p>
            <a:pPr algn="l"/>
            <a:r>
              <a:rPr lang="es-PE" sz="1600">
                <a:solidFill>
                  <a:srgbClr val="4EC9B0"/>
                </a:solidFill>
                <a:latin typeface="Courier New"/>
              </a:rPr>
              <a:t>    PagoInfoDto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? DatosPago);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Eventos de dominio y notificaciones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1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Desacoplar efectos secundarios: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cuando una solicitud se aprueba o rechaza, se debe notificar por correo y registrar en log sin ensuciar la lógica principal.</a:t>
            </a:r>
          </a:p>
        </p:txBody>
      </p:sp>
      <p:sp>
        <p:nvSpPr>
          <p:cNvPr id="21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📣</a:t>
            </a:r>
          </a:p>
        </p:txBody>
      </p:sp>
      <p:sp>
        <p:nvSpPr>
          <p:cNvPr id="21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Evento de dominio</a:t>
            </a:r>
          </a:p>
        </p:txBody>
      </p:sp>
      <p:sp>
        <p:nvSpPr>
          <p:cNvPr id="21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SolicitudAprobadaEvent con Id, solicitante y fecha de aprobación.</a:t>
            </a:r>
          </a:p>
        </p:txBody>
      </p:sp>
      <p:sp>
        <p:nvSpPr>
          <p:cNvPr id="21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📧</a:t>
            </a:r>
          </a:p>
        </p:txBody>
      </p:sp>
      <p:sp>
        <p:nvSpPr>
          <p:cNvPr id="21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Notificación Email</a:t>
            </a:r>
          </a:p>
        </p:txBody>
      </p:sp>
      <p:sp>
        <p:nvSpPr>
          <p:cNvPr id="21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Handler asíncrono envía correo al solicitante y a Tesorería.</a:t>
            </a:r>
          </a:p>
        </p:txBody>
      </p:sp>
      <p:sp>
        <p:nvSpPr>
          <p:cNvPr id="21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📄</a:t>
            </a:r>
          </a:p>
        </p:txBody>
      </p:sp>
      <p:sp>
        <p:nvSpPr>
          <p:cNvPr id="21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Log estructurado</a:t>
            </a:r>
          </a:p>
        </p:txBody>
      </p:sp>
      <p:sp>
        <p:nvSpPr>
          <p:cNvPr id="21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Auditoría en JSON lista para ser enviada a Datadog, CloudWatch o ELK.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Pruebas de integración del flujo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2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FlujoTests.cs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Simulación end-to-end del flujo completo con xUnit</a:t>
            </a:r>
          </a:p>
          <a:p>
            <a:pPr algn="l"/>
            <a:r>
              <a:rPr lang="es-PE" sz="1600">
                <a:solidFill>
                  <a:srgbClr val="DCDCAA"/>
                </a:solidFill>
                <a:latin typeface="Courier New"/>
              </a:rPr>
              <a:t>[Fact]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FlujoCompleto_DeBorradorAPagada_DebeQuedarLiquidada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 =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"Viáticos Cusco"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, 10, 1);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AgregarDetalle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"Pasaje aéreo"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, 450m);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EnviarARevision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Aprobar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(20,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"Aprobado por jefatura"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RegistrarPago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(30,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"BCP Transferencia"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,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"OP-98721"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, 450m);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Assert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Equal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EstadoSolicitud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.Pagada, s.Estado);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Assert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Equal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(3, s.Aprobaciones.Count);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Automatización con archivo .http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3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solicitudes-flujo.http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### 1. Enviar solicitud a revision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POST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{{host}}/api/solicitudes/1/enviar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Content-Type: application/json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### 2. Aprobar solicitud como Gerente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POST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{{host}}/api/solicitudes/1/aprobar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Content-Type: application/json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 "responsableId": 2, "comentario": "Conforme con gastos."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### 3. Pagar en Tesoreria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POST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{{host}}/api/solicitudes/1/pagar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 "tesoreroId": 4, "medioPago": "Transferencia", "referenciaOperacion": "TR-99881", "montoPagado": 450.0 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Auditoría y logging de seguridad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4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Cero impunidad ante intentos no autorizados: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si un usuario intenta saltar de Borrador a Pagada, se registra como incidente de seguridad con IP y usuario.</a:t>
            </a:r>
          </a:p>
        </p:txBody>
      </p:sp>
      <p:sp>
        <p:nvSpPr>
          <p:cNvPr id="24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🚨</a:t>
            </a:r>
          </a:p>
        </p:txBody>
      </p:sp>
      <p:sp>
        <p:nvSpPr>
          <p:cNvPr id="24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Alerta inmediata</a:t>
            </a:r>
          </a:p>
        </p:txBody>
      </p:sp>
      <p:sp>
        <p:nvSpPr>
          <p:cNvPr id="24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Registra intentos de violación de límites de aprobación o saltos de estado.</a:t>
            </a:r>
          </a:p>
        </p:txBody>
      </p:sp>
      <p:sp>
        <p:nvSpPr>
          <p:cNvPr id="24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🔑</a:t>
            </a:r>
          </a:p>
        </p:txBody>
      </p:sp>
      <p:sp>
        <p:nvSpPr>
          <p:cNvPr id="24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Huella digital</a:t>
            </a:r>
          </a:p>
        </p:txBody>
      </p:sp>
      <p:sp>
        <p:nvSpPr>
          <p:cNvPr id="24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Dirección IP, User-Agent, ID del solicitante y timestamp UTC milimétrico.</a:t>
            </a:r>
          </a:p>
        </p:txBody>
      </p:sp>
      <p:sp>
        <p:nvSpPr>
          <p:cNvPr id="24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👁</a:t>
            </a:r>
          </a:p>
        </p:txBody>
      </p:sp>
      <p:sp>
        <p:nvSpPr>
          <p:cNvPr id="24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Cumplimiento</a:t>
            </a:r>
          </a:p>
        </p:txBody>
      </p:sp>
      <p:sp>
        <p:nvSpPr>
          <p:cNvPr id="24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Satisface auditorías SOX, ISO 27001 y estándares bancarios internacionales.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Checklist para flujos de dinero en producción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5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9F2D0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1B7A2F"/>
                </a:solidFill>
                <a:latin typeface="Roboto"/>
              </a:rPr>
              <a:t>Blindaje financiero total: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antes de subir un flujo de dinero a producción, valida cada uno de estos 5 puntos.</a:t>
            </a:r>
          </a:p>
        </p:txBody>
      </p:sp>
      <p:sp>
        <p:nvSpPr>
          <p:cNvPr id="251" name="tp"/>
          <p:cNvSpPr txBox="1"/>
          <p:nvPr/>
        </p:nvSpPr>
        <p:spPr>
          <a:xfrm>
            <a:off x="1300000" y="4000000"/>
            <a:ext cx="15700000" cy="54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Verifica que el solicitante jamás pueda aprobarse a sí mismo.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Valida los límites de monto por rol en la capa de dominio, no solo en la interfaz.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Exige motivo obligatorio por escrito ante cualquier rechazo u observación.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Usa tokens de concurrencia optimista para evitar dobles clics de aprobación.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Guarda cada paso en la tabla Aprobacion como un registro histórico inmutable.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Errores comunes en flujos de aprobación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601" name="r"/>
          <p:cNvSpPr/>
          <p:nvPr/>
        </p:nvSpPr>
        <p:spPr>
          <a:xfrm>
            <a:off x="13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4B4B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602" name="t"/>
          <p:cNvSpPr txBox="1"/>
          <p:nvPr/>
        </p:nvSpPr>
        <p:spPr>
          <a:xfrm>
            <a:off x="15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D14B4B"/>
                </a:solidFill>
                <a:latin typeface="Roboto"/>
              </a:rPr>
              <a:t>Evita esto</a:t>
            </a:r>
          </a:p>
        </p:txBody>
      </p:sp>
      <p:sp>
        <p:nvSpPr>
          <p:cNvPr id="2603" name="tp"/>
          <p:cNvSpPr txBox="1"/>
          <p:nvPr/>
        </p:nvSpPr>
        <p:spPr>
          <a:xfrm>
            <a:off x="14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Permitir que el usuario edite la solicitud cuando ya fue enviada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Sobrescribir el campo AprobadorId perdiendo el historial anterior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Aprobar solicitudes sin verificar el límite monetario del rol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Pagar en Tesorería sin registrar número de comprobante u operación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Validar las transiciones de estado únicamente en botones de Angular</a:t>
            </a:r>
          </a:p>
        </p:txBody>
      </p:sp>
      <p:sp>
        <p:nvSpPr>
          <p:cNvPr id="2604" name="t"/>
          <p:cNvSpPr txBox="1"/>
          <p:nvPr/>
        </p:nvSpPr>
        <p:spPr>
          <a:xfrm>
            <a:off x="8550000" y="4600000"/>
            <a:ext cx="1200000" cy="1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4000" b="1">
                <a:solidFill>
                  <a:srgbClr val="888888"/>
                </a:solidFill>
                <a:latin typeface="Roboto"/>
              </a:rPr>
              <a:t>➞</a:t>
            </a:r>
          </a:p>
        </p:txBody>
      </p:sp>
      <p:sp>
        <p:nvSpPr>
          <p:cNvPr id="2605" name="r"/>
          <p:cNvSpPr/>
          <p:nvPr/>
        </p:nvSpPr>
        <p:spPr>
          <a:xfrm>
            <a:off x="99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EAF8E6"/>
          </a:solidFill>
          <a:ln w="19050">
            <a:solidFill>
              <a:srgbClr val="2EA84F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606" name="t"/>
          <p:cNvSpPr txBox="1"/>
          <p:nvPr/>
        </p:nvSpPr>
        <p:spPr>
          <a:xfrm>
            <a:off x="101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2EA84F"/>
                </a:solidFill>
                <a:latin typeface="Roboto"/>
              </a:rPr>
              <a:t>Haz esto</a:t>
            </a:r>
          </a:p>
        </p:txBody>
      </p:sp>
      <p:sp>
        <p:nvSpPr>
          <p:cNvPr id="2607" name="tp"/>
          <p:cNvSpPr txBox="1"/>
          <p:nvPr/>
        </p:nvSpPr>
        <p:spPr>
          <a:xfrm>
            <a:off x="100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Bloquear edición en cuanto el estado cambie a Enviada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Insertar un nuevo registro histórico en la tabla Aprobacion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Validar montos con la matriz de atribuciones corporativas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Exigir número de operación y medio de pago en MovimientoTesoreria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Aplicar la máquina de estados en la entidad de C# como regla inviolable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Resumen de la sesión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711" name="e"/>
          <p:cNvSpPr/>
          <p:nvPr/>
        </p:nvSpPr>
        <p:spPr>
          <a:xfrm>
            <a:off x="3000000" y="270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🚀</a:t>
            </a:r>
          </a:p>
        </p:txBody>
      </p:sp>
      <p:sp>
        <p:nvSpPr>
          <p:cNvPr id="2712" name="t"/>
          <p:cNvSpPr txBox="1"/>
          <p:nvPr/>
        </p:nvSpPr>
        <p:spPr>
          <a:xfrm>
            <a:off x="1100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Enviar</a:t>
            </a:r>
          </a:p>
        </p:txBody>
      </p:sp>
      <p:sp>
        <p:nvSpPr>
          <p:cNvPr id="2713" name="t"/>
          <p:cNvSpPr txBox="1"/>
          <p:nvPr/>
        </p:nvSpPr>
        <p:spPr>
          <a:xfrm>
            <a:off x="1100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Paso a revisión validando detalles obligatorios.</a:t>
            </a:r>
          </a:p>
        </p:txBody>
      </p:sp>
      <p:sp>
        <p:nvSpPr>
          <p:cNvPr id="2721" name="e"/>
          <p:cNvSpPr/>
          <p:nvPr/>
        </p:nvSpPr>
        <p:spPr>
          <a:xfrm>
            <a:off x="8644000" y="270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🔍</a:t>
            </a:r>
          </a:p>
        </p:txBody>
      </p:sp>
      <p:sp>
        <p:nvSpPr>
          <p:cNvPr id="2722" name="t"/>
          <p:cNvSpPr txBox="1"/>
          <p:nvPr/>
        </p:nvSpPr>
        <p:spPr>
          <a:xfrm>
            <a:off x="6744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Revisar</a:t>
            </a:r>
          </a:p>
        </p:txBody>
      </p:sp>
      <p:sp>
        <p:nvSpPr>
          <p:cNvPr id="2723" name="t"/>
          <p:cNvSpPr txBox="1"/>
          <p:nvPr/>
        </p:nvSpPr>
        <p:spPr>
          <a:xfrm>
            <a:off x="6744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Validación de sustentos y observaciones.</a:t>
            </a:r>
          </a:p>
        </p:txBody>
      </p:sp>
      <p:sp>
        <p:nvSpPr>
          <p:cNvPr id="2731" name="e"/>
          <p:cNvSpPr/>
          <p:nvPr/>
        </p:nvSpPr>
        <p:spPr>
          <a:xfrm>
            <a:off x="14288000" y="2700000"/>
            <a:ext cx="1000000" cy="1000000"/>
          </a:xfrm>
          <a:prstGeom prst="ellipse">
            <a:avLst/>
          </a:prstGeom>
          <a:solidFill>
            <a:srgbClr val="ECD9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⚖</a:t>
            </a:r>
          </a:p>
        </p:txBody>
      </p:sp>
      <p:sp>
        <p:nvSpPr>
          <p:cNvPr id="2732" name="t"/>
          <p:cNvSpPr txBox="1"/>
          <p:nvPr/>
        </p:nvSpPr>
        <p:spPr>
          <a:xfrm>
            <a:off x="12388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8B3FD9"/>
                </a:solidFill>
                <a:latin typeface="Roboto"/>
              </a:rPr>
              <a:t>Límites</a:t>
            </a:r>
          </a:p>
        </p:txBody>
      </p:sp>
      <p:sp>
        <p:nvSpPr>
          <p:cNvPr id="2733" name="t"/>
          <p:cNvSpPr txBox="1"/>
          <p:nvPr/>
        </p:nvSpPr>
        <p:spPr>
          <a:xfrm>
            <a:off x="12388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Jefatura, Gerencia y Directorio por monto.</a:t>
            </a:r>
          </a:p>
        </p:txBody>
      </p:sp>
      <p:sp>
        <p:nvSpPr>
          <p:cNvPr id="2741" name="e"/>
          <p:cNvSpPr/>
          <p:nvPr/>
        </p:nvSpPr>
        <p:spPr>
          <a:xfrm>
            <a:off x="3000000" y="620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✔</a:t>
            </a:r>
          </a:p>
        </p:txBody>
      </p:sp>
      <p:sp>
        <p:nvSpPr>
          <p:cNvPr id="2742" name="t"/>
          <p:cNvSpPr txBox="1"/>
          <p:nvPr/>
        </p:nvSpPr>
        <p:spPr>
          <a:xfrm>
            <a:off x="1100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Aprobar / Rechazar</a:t>
            </a:r>
          </a:p>
        </p:txBody>
      </p:sp>
      <p:sp>
        <p:nvSpPr>
          <p:cNvPr id="2743" name="t"/>
          <p:cNvSpPr txBox="1"/>
          <p:nvPr/>
        </p:nvSpPr>
        <p:spPr>
          <a:xfrm>
            <a:off x="1100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Decisiones con comentario e historial auditado.</a:t>
            </a:r>
          </a:p>
        </p:txBody>
      </p:sp>
      <p:sp>
        <p:nvSpPr>
          <p:cNvPr id="2751" name="e"/>
          <p:cNvSpPr/>
          <p:nvPr/>
        </p:nvSpPr>
        <p:spPr>
          <a:xfrm>
            <a:off x="8644000" y="6200000"/>
            <a:ext cx="1000000" cy="1000000"/>
          </a:xfrm>
          <a:prstGeom prst="ellipse">
            <a:avLst/>
          </a:prstGeom>
          <a:solidFill>
            <a:srgbClr val="CCF2EA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💰</a:t>
            </a:r>
          </a:p>
        </p:txBody>
      </p:sp>
      <p:sp>
        <p:nvSpPr>
          <p:cNvPr id="2752" name="t"/>
          <p:cNvSpPr txBox="1"/>
          <p:nvPr/>
        </p:nvSpPr>
        <p:spPr>
          <a:xfrm>
            <a:off x="6744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AA39A"/>
                </a:solidFill>
                <a:latin typeface="Roboto"/>
              </a:rPr>
              <a:t>Tesorería</a:t>
            </a:r>
          </a:p>
        </p:txBody>
      </p:sp>
      <p:sp>
        <p:nvSpPr>
          <p:cNvPr id="2753" name="t"/>
          <p:cNvSpPr txBox="1"/>
          <p:nvPr/>
        </p:nvSpPr>
        <p:spPr>
          <a:xfrm>
            <a:off x="6744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Desembolso final con medio y operación.</a:t>
            </a:r>
          </a:p>
        </p:txBody>
      </p:sp>
      <p:sp>
        <p:nvSpPr>
          <p:cNvPr id="2761" name="e"/>
          <p:cNvSpPr/>
          <p:nvPr/>
        </p:nvSpPr>
        <p:spPr>
          <a:xfrm>
            <a:off x="14288000" y="6200000"/>
            <a:ext cx="1000000" cy="1000000"/>
          </a:xfrm>
          <a:prstGeom prst="ellipse">
            <a:avLst/>
          </a:prstGeom>
          <a:solidFill>
            <a:srgbClr val="FFD6D6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📜</a:t>
            </a:r>
          </a:p>
        </p:txBody>
      </p:sp>
      <p:sp>
        <p:nvSpPr>
          <p:cNvPr id="2762" name="t"/>
          <p:cNvSpPr txBox="1"/>
          <p:nvPr/>
        </p:nvSpPr>
        <p:spPr>
          <a:xfrm>
            <a:off x="12388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D14B4B"/>
                </a:solidFill>
                <a:latin typeface="Roboto"/>
              </a:rPr>
              <a:t>Trazabilidad</a:t>
            </a:r>
          </a:p>
        </p:txBody>
      </p:sp>
      <p:sp>
        <p:nvSpPr>
          <p:cNvPr id="2763" name="t"/>
          <p:cNvSpPr txBox="1"/>
          <p:nvPr/>
        </p:nvSpPr>
        <p:spPr>
          <a:xfrm>
            <a:off x="12388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Línea de tiempo inmutable para auditoría.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71290CC759522429B105456B3C74D4E" ma:contentTypeVersion="18" ma:contentTypeDescription="Crear nuevo documento." ma:contentTypeScope="" ma:versionID="b16921caaa352d6c6b40a35a64dd15dd">
  <xsd:schema xmlns:xsd="http://www.w3.org/2001/XMLSchema" xmlns:xs="http://www.w3.org/2001/XMLSchema" xmlns:p="http://schemas.microsoft.com/office/2006/metadata/properties" xmlns:ns2="b45a8c2e-09b1-4064-bb7e-0e2948b15800" xmlns:ns3="f893cdd1-18a6-49f9-8410-ff8a75fa096f" targetNamespace="http://schemas.microsoft.com/office/2006/metadata/properties" ma:root="true" ma:fieldsID="cc2b95a57930b236afc96f125766a762" ns2:_="" ns3:_="">
    <xsd:import namespace="b45a8c2e-09b1-4064-bb7e-0e2948b15800"/>
    <xsd:import namespace="f893cdd1-18a6-49f9-8410-ff8a75fa09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a8c2e-09b1-4064-bb7e-0e2948b158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ac0ade2b-fa97-451f-b1a9-747194817b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93cdd1-18a6-49f9-8410-ff8a75fa096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5c9644d-ae6b-4749-accb-1586901e3ac7}" ma:internalName="TaxCatchAll" ma:showField="CatchAllData" ma:web="f893cdd1-18a6-49f9-8410-ff8a75fa09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893cdd1-18a6-49f9-8410-ff8a75fa096f" xsi:nil="true"/>
    <lcf76f155ced4ddcb4097134ff3c332f xmlns="b45a8c2e-09b1-4064-bb7e-0e2948b1580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DDEF5603-70E4-4BC1-A1F1-931CCD42AE99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5a8c2e-09b1-4064-bb7e-0e2948b15800"/>
    <ds:schemaRef ds:uri="f893cdd1-18a6-49f9-8410-ff8a75fa09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FFAB2F5F-24C6-4839-9804-B0AC03D21AC2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835F4B21-4188-47AC-8D98-85563D194352">
  <ds:schemaRefs>
    <ds:schemaRef ds:uri="http://schemas.microsoft.com/office/2006/metadata/properties"/>
    <ds:schemaRef ds:uri="http://schemas.microsoft.com/office/infopath/2007/PartnerControls"/>
    <ds:schemaRef ds:uri="f893cdd1-18a6-49f9-8410-ff8a75fa096f"/>
    <ds:schemaRef ds:uri="b45a8c2e-09b1-4064-bb7e-0e2948b15800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Proyecto Arquitectónico Minimalista Blanco y Negro</dc:title>
  <dc:creator>Enrique Huaman</dc:creator>
  <dc:identifier>DAGwiwYUdeU</dc:identifier>
  <cp:lastModifiedBy/>
  <cp:revision>59</cp:revision>
  <dcterms:created xsi:type="dcterms:W3CDTF">2006-08-16T00:00:00Z</dcterms:created>
  <dcterms:modified xsi:type="dcterms:W3CDTF">2026-05-24T07:38:20Z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0x010100171290CC759522429B105456B3C74D4E</vt:lpwstr>
  </property>
</Properties>
</file>