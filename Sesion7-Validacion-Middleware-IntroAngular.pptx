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4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61" r:id="rId12"/>
    <p:sldId id="262" r:id="rId13"/>
    <p:sldId id="263" r:id="rId14"/>
  </p:sldIdLst>
  <p:sldSz cx="18288000" cy="10287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6" d="100"/>
          <a:sy n="16" d="100"/>
        </p:scale>
        <p:origin x="858" y="25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029517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21857553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E7084CA-3DB8-45DC-8AD8-9E56A343B3BC}" type="datetimeFigureOut">
              <a:rPr lang="es-ES"/>
              <a:t>26/02/2026</a:t>
            </a:fld>
            <a:endParaRPr lang="es-ES"/>
          </a:p>
        </p:txBody>
      </p:sp>
      <p:sp>
        <p:nvSpPr>
          <p:cNvPr id="1831933791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002091996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13895294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249399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E047963-003F-451B-AA32-8837B58ED770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62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701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94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A6C018-A453-C2A7-E90A-6D73B4BE2E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9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913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01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2BFE4-113C-16A9-46BC-5219253630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95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437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54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48E95A-3D9C-DB7C-67BA-937240A4F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73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09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96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69992-1612-E231-2E50-CEF3DB79C3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1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607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827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7882C-EA35-FF54-8897-ECD08444CE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121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674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9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B30468-729D-BD5A-C039-A7053A464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087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510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99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B365B0-6DCD-3023-AAFC-26DA05F283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99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58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92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8BE6F0-4DF0-1A39-737F-5436869D53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8629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870766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831979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25796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7706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002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17940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612896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21145325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230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46823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295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177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727561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2664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48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88342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19073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27192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21051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2585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890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70307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51175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32152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26252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08600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9369232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3258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499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815489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895974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53474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26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635832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2574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82798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547715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40838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71971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119532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9708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315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3509114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256470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0574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449257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091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044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160516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13305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605029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7845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1875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833064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26916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866050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2155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5410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93826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735601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108341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48380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382230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895975050" name="Group 3"/>
          <p:cNvGrpSpPr/>
          <p:nvPr/>
        </p:nvGrpSpPr>
        <p:grpSpPr bwMode="auto">
          <a:xfrm>
            <a:off x="10465866" y="-108420"/>
            <a:ext cx="7992925" cy="105038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272809880" name="Group 5"/>
          <p:cNvGrpSpPr/>
          <p:nvPr/>
        </p:nvGrpSpPr>
        <p:grpSpPr bwMode="auto">
          <a:xfrm>
            <a:off x="193204" y="136418"/>
            <a:ext cx="4566505" cy="1536415"/>
            <a:chOff x="0" y="0"/>
            <a:chExt cx="4944796" cy="1483439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1012875942" name="Freeform 8"/>
          <p:cNvSpPr/>
          <p:nvPr/>
        </p:nvSpPr>
        <p:spPr bwMode="auto">
          <a:xfrm>
            <a:off x="13837876" y="6183764"/>
            <a:ext cx="1099807" cy="324062"/>
          </a:xfrm>
          <a:custGeom>
            <a:avLst/>
            <a:gdLst/>
            <a:ahLst/>
            <a:cxnLst/>
            <a:rect l="l" t="t" r="r" b="b"/>
            <a:pathLst>
              <a:path w="1099807" h="324062" fill="norm" stroke="1" extrusionOk="0">
                <a:moveTo>
                  <a:pt x="0" y="0"/>
                </a:moveTo>
                <a:lnTo>
                  <a:pt x="1099807" y="0"/>
                </a:lnTo>
                <a:lnTo>
                  <a:pt x="1099807" y="324062"/>
                </a:lnTo>
                <a:lnTo>
                  <a:pt x="0" y="324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-14632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1288211233" name="Freeform 9"/>
          <p:cNvSpPr/>
          <p:nvPr/>
        </p:nvSpPr>
        <p:spPr bwMode="auto">
          <a:xfrm>
            <a:off x="13765201" y="7561751"/>
            <a:ext cx="970596" cy="340395"/>
          </a:xfrm>
          <a:custGeom>
            <a:avLst/>
            <a:gdLst/>
            <a:ahLst/>
            <a:cxnLst/>
            <a:rect l="l" t="t" r="r" b="b"/>
            <a:pathLst>
              <a:path w="970596" h="340395" fill="norm" stroke="1" extrusionOk="0">
                <a:moveTo>
                  <a:pt x="0" y="0"/>
                </a:moveTo>
                <a:lnTo>
                  <a:pt x="970596" y="0"/>
                </a:lnTo>
                <a:lnTo>
                  <a:pt x="970596" y="340395"/>
                </a:lnTo>
                <a:lnTo>
                  <a:pt x="0" y="340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-18734" t="-62458" r="-18444" b="-57704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09775544" name="Freeform 10"/>
          <p:cNvSpPr/>
          <p:nvPr/>
        </p:nvSpPr>
        <p:spPr bwMode="auto">
          <a:xfrm>
            <a:off x="14906722" y="7205876"/>
            <a:ext cx="374698" cy="441513"/>
          </a:xfrm>
          <a:custGeom>
            <a:avLst/>
            <a:gdLst/>
            <a:ahLst/>
            <a:cxnLst/>
            <a:rect l="l" t="t" r="r" b="b"/>
            <a:pathLst>
              <a:path w="374698" h="441513" fill="norm" stroke="1" extrusionOk="0">
                <a:moveTo>
                  <a:pt x="0" y="0"/>
                </a:moveTo>
                <a:lnTo>
                  <a:pt x="374698" y="0"/>
                </a:lnTo>
                <a:lnTo>
                  <a:pt x="374698" y="441514"/>
                </a:lnTo>
                <a:lnTo>
                  <a:pt x="0" y="441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-34454" t="0" r="-2875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2777268" name="Freeform 11"/>
          <p:cNvSpPr/>
          <p:nvPr/>
        </p:nvSpPr>
        <p:spPr bwMode="auto">
          <a:xfrm>
            <a:off x="14908451" y="6686170"/>
            <a:ext cx="830612" cy="278574"/>
          </a:xfrm>
          <a:custGeom>
            <a:avLst/>
            <a:gdLst/>
            <a:ahLst/>
            <a:cxnLst/>
            <a:rect l="l" t="t" r="r" b="b"/>
            <a:pathLst>
              <a:path w="830612" h="278574" fill="norm" stroke="1" extrusionOk="0">
                <a:moveTo>
                  <a:pt x="0" y="0"/>
                </a:moveTo>
                <a:lnTo>
                  <a:pt x="830611" y="0"/>
                </a:lnTo>
                <a:lnTo>
                  <a:pt x="830611" y="278574"/>
                </a:lnTo>
                <a:lnTo>
                  <a:pt x="0" y="278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2038686430" name="Freeform 12"/>
          <p:cNvSpPr/>
          <p:nvPr/>
        </p:nvSpPr>
        <p:spPr bwMode="auto">
          <a:xfrm>
            <a:off x="13185597" y="6686170"/>
            <a:ext cx="776761" cy="526831"/>
          </a:xfrm>
          <a:custGeom>
            <a:avLst/>
            <a:gdLst/>
            <a:ahLst/>
            <a:cxnLst/>
            <a:rect l="l" t="t" r="r" b="b"/>
            <a:pathLst>
              <a:path w="776761" h="526831" fill="norm" stroke="1" extrusionOk="0">
                <a:moveTo>
                  <a:pt x="0" y="0"/>
                </a:moveTo>
                <a:lnTo>
                  <a:pt x="776761" y="0"/>
                </a:lnTo>
                <a:lnTo>
                  <a:pt x="776761" y="526830"/>
                </a:lnTo>
                <a:lnTo>
                  <a:pt x="0" y="526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880406290" name="Freeform 13"/>
          <p:cNvSpPr/>
          <p:nvPr/>
        </p:nvSpPr>
        <p:spPr bwMode="auto">
          <a:xfrm>
            <a:off x="14000458" y="6596608"/>
            <a:ext cx="869893" cy="869893"/>
          </a:xfrm>
          <a:custGeom>
            <a:avLst/>
            <a:gdLst/>
            <a:ahLst/>
            <a:cxnLst/>
            <a:rect l="l" t="t" r="r" b="b"/>
            <a:pathLst>
              <a:path w="869893" h="869893" fill="norm" stroke="1" extrusionOk="0">
                <a:moveTo>
                  <a:pt x="0" y="0"/>
                </a:moveTo>
                <a:lnTo>
                  <a:pt x="869893" y="0"/>
                </a:lnTo>
                <a:lnTo>
                  <a:pt x="869893" y="869893"/>
                </a:lnTo>
                <a:lnTo>
                  <a:pt x="0" y="869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387793302" name="Group 14"/>
          <p:cNvGrpSpPr/>
          <p:nvPr/>
        </p:nvGrpSpPr>
        <p:grpSpPr bwMode="auto">
          <a:xfrm>
            <a:off x="7620000" y="-220352"/>
            <a:ext cx="21126247" cy="11078852"/>
            <a:chOff x="0" y="-137758"/>
            <a:chExt cx="7437183" cy="3900146"/>
          </a:xfrm>
        </p:grpSpPr>
        <p:sp>
          <p:nvSpPr>
            <p:cNvPr id="15" name="Freeform 15"/>
            <p:cNvSpPr/>
            <p:nvPr/>
          </p:nvSpPr>
          <p:spPr bwMode="auto">
            <a:xfrm>
              <a:off x="999163" y="-137758"/>
              <a:ext cx="6438020" cy="3900146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20604944" name="Group 17"/>
          <p:cNvGrpSpPr>
            <a:grpSpLocks noChangeAspect="1"/>
          </p:cNvGrpSpPr>
          <p:nvPr/>
        </p:nvGrpSpPr>
        <p:grpSpPr bwMode="auto">
          <a:xfrm rot="-5400000">
            <a:off x="9373087" y="1023039"/>
            <a:ext cx="2185559" cy="736237"/>
            <a:chOff x="0" y="0"/>
            <a:chExt cx="1231938" cy="414998"/>
          </a:xfrm>
        </p:grpSpPr>
        <p:sp>
          <p:nvSpPr>
            <p:cNvPr id="18" name="Freeform 1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6144456" name="TextBox 21"/>
          <p:cNvSpPr txBox="1"/>
          <p:nvPr/>
        </p:nvSpPr>
        <p:spPr bwMode="auto">
          <a:xfrm>
            <a:off x="1028700" y="4977357"/>
            <a:ext cx="8579699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36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Desarrollo Full Stack con C# y Angular</a:t>
            </a:r>
            <a:endParaRPr/>
          </a:p>
        </p:txBody>
      </p:sp>
      <p:sp>
        <p:nvSpPr>
          <p:cNvPr id="1041271674" name="TextBox 22"/>
          <p:cNvSpPr txBox="1"/>
          <p:nvPr/>
        </p:nvSpPr>
        <p:spPr bwMode="auto">
          <a:xfrm>
            <a:off x="1047750" y="4132744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5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Curso</a:t>
            </a:r>
            <a:endParaRPr/>
          </a:p>
        </p:txBody>
      </p:sp>
      <p:sp>
        <p:nvSpPr>
          <p:cNvPr id="730032275" name="CuadroTexto 22"/>
          <p:cNvSpPr txBox="1"/>
          <p:nvPr/>
        </p:nvSpPr>
        <p:spPr bwMode="auto">
          <a:xfrm>
            <a:off x="1010832" y="6530499"/>
            <a:ext cx="8762874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PE" sz="3200">
                <a:solidFill>
                  <a:srgbClr val="EE6D14"/>
                </a:solidFill>
              </a:rPr>
              <a:t>Docente:  </a:t>
            </a:r>
            <a:r>
              <a:rPr lang="es-ES" sz="3200">
                <a:solidFill>
                  <a:srgbClr val="EE6D14"/>
                </a:solidFill>
              </a:rPr>
              <a:t>Edwin Barrientos</a:t>
            </a:r>
            <a:endParaRPr/>
          </a:p>
        </p:txBody>
      </p:sp>
      <p:cxnSp>
        <p:nvCxnSpPr>
          <p:cNvPr id="500389679" name="Conector recto 24"/>
          <p:cNvCxnSpPr/>
          <p:nvPr/>
        </p:nvCxnSpPr>
        <p:spPr bwMode="auto">
          <a:xfrm>
            <a:off x="1047750" y="6610183"/>
            <a:ext cx="80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9007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940281398" name="Group 3"/>
          <p:cNvGrpSpPr/>
          <p:nvPr/>
        </p:nvGrpSpPr>
        <p:grpSpPr bwMode="auto">
          <a:xfrm>
            <a:off x="-187438" y="4377398"/>
            <a:ext cx="18662876" cy="6009477"/>
            <a:chOff x="0" y="0"/>
            <a:chExt cx="2891368" cy="93102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2891368" cy="931025"/>
            </a:xfrm>
            <a:custGeom>
              <a:avLst/>
              <a:gdLst/>
              <a:ahLst/>
              <a:cxnLst/>
              <a:rect l="l" t="t" r="r" b="b"/>
              <a:pathLst>
                <a:path w="2891368" h="931025" fill="norm" stroke="1" extrusionOk="0">
                  <a:moveTo>
                    <a:pt x="0" y="0"/>
                  </a:moveTo>
                  <a:lnTo>
                    <a:pt x="2891368" y="0"/>
                  </a:lnTo>
                  <a:lnTo>
                    <a:pt x="2891368" y="931025"/>
                  </a:lnTo>
                  <a:lnTo>
                    <a:pt x="0" y="931025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4535" r="0" b="-49941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288659993" name="TextBox 8"/>
          <p:cNvSpPr txBox="1"/>
          <p:nvPr/>
        </p:nvSpPr>
        <p:spPr bwMode="auto">
          <a:xfrm>
            <a:off x="1109269" y="1419709"/>
            <a:ext cx="16587931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48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Cierre de Backend e Introducción a Angular</a:t>
            </a:r>
            <a:endParaRPr/>
          </a:p>
        </p:txBody>
      </p:sp>
      <p:grpSp>
        <p:nvGrpSpPr>
          <p:cNvPr id="894212724" name="Group 9"/>
          <p:cNvGrpSpPr/>
          <p:nvPr/>
        </p:nvGrpSpPr>
        <p:grpSpPr bwMode="auto">
          <a:xfrm>
            <a:off x="0" y="4377398"/>
            <a:ext cx="18288000" cy="8144679"/>
            <a:chOff x="0" y="0"/>
            <a:chExt cx="6438020" cy="2867214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6438020" cy="2867214"/>
            </a:xfrm>
            <a:custGeom>
              <a:avLst/>
              <a:gdLst/>
              <a:ahLst/>
              <a:cxnLst/>
              <a:rect l="l" t="t" r="r" b="b"/>
              <a:pathLst>
                <a:path w="6438020" h="286721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2867214"/>
                  </a:lnTo>
                  <a:lnTo>
                    <a:pt x="0" y="286721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7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66675"/>
              <a:ext cx="6438020" cy="293388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1184583054" name="Group 12"/>
          <p:cNvGrpSpPr>
            <a:grpSpLocks noChangeAspect="1"/>
          </p:cNvGrpSpPr>
          <p:nvPr/>
        </p:nvGrpSpPr>
        <p:grpSpPr bwMode="auto">
          <a:xfrm>
            <a:off x="1028700" y="4009279"/>
            <a:ext cx="2185559" cy="736237"/>
            <a:chOff x="0" y="0"/>
            <a:chExt cx="1231938" cy="414998"/>
          </a:xfrm>
        </p:grpSpPr>
        <p:sp>
          <p:nvSpPr>
            <p:cNvPr id="13" name="Freeform 13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8291645" name="TextBox 16"/>
          <p:cNvSpPr txBox="1"/>
          <p:nvPr/>
        </p:nvSpPr>
        <p:spPr bwMode="auto">
          <a:xfrm>
            <a:off x="1192558" y="807558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7 — Bisagra M2 / M3:</a:t>
            </a:r>
            <a:endParaRPr/>
          </a:p>
        </p:txBody>
      </p:sp>
      <p:grpSp>
        <p:nvGrpSpPr>
          <p:cNvPr id="1813962660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8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839590268" name="Rectángulo 4"/>
          <p:cNvSpPr/>
          <p:nvPr/>
        </p:nvSpPr>
        <p:spPr bwMode="auto">
          <a:xfrm>
            <a:off x="2376945" y="5143500"/>
            <a:ext cx="13396454" cy="372379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PE"/>
          </a:p>
        </p:txBody>
      </p:sp>
      <p:sp>
        <p:nvSpPr>
          <p:cNvPr id="1563960745" name="TextBox 8"/>
          <p:cNvSpPr txBox="1"/>
          <p:nvPr/>
        </p:nvSpPr>
        <p:spPr bwMode="auto">
          <a:xfrm>
            <a:off x="3080514" y="5858181"/>
            <a:ext cx="12001084" cy="48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PE" sz="3200" b="1">
                <a:latin typeface="Poppins"/>
                <a:cs typeface="Poppins"/>
              </a:rPr>
              <a:t>Objetivo del módulo: </a:t>
            </a:r>
            <a:r>
              <a:rPr lang="es-ES" sz="3200" b="1">
                <a:latin typeface="Poppins"/>
                <a:cs typeface="Poppins"/>
              </a:rPr>
              <a:t>blindar la API con FluentValidation, middleware global y ProblemDetails (1h) e iniciar el desarrollo del frontend con Angular CLI, TypeScript y Standalone Components (2h).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68399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907739783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475912823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grpSp>
        <p:nvGrpSpPr>
          <p:cNvPr id="1824530624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6892021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sp>
        <p:nvSpPr>
          <p:cNvPr id="1610241063" name="TextBox 4"/>
          <p:cNvSpPr txBox="1"/>
          <p:nvPr/>
        </p:nvSpPr>
        <p:spPr bwMode="auto">
          <a:xfrm>
            <a:off x="9594256" y="2551515"/>
            <a:ext cx="6909292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Agenda</a:t>
            </a:r>
            <a:endParaRPr/>
          </a:p>
        </p:txBody>
      </p:sp>
      <p:sp>
        <p:nvSpPr>
          <p:cNvPr id="1060153805" name="CuadroTexto 5"/>
          <p:cNvSpPr txBox="1"/>
          <p:nvPr/>
        </p:nvSpPr>
        <p:spPr bwMode="auto">
          <a:xfrm>
            <a:off x="9594255" y="3186160"/>
            <a:ext cx="7191703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s-ES" sz="2800"/>
              <a:t>Validación robusta de peticiones con FluentValidation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Middleware global de excepciones y estándar ProblemDetails (RFC 7807)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Colección de pruebas de integración con Postman / .http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Introducción a Angular 18: Angular CLI y Standalone Components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TypeScript esencial para Angular: Tipos, interfaces y data binding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0267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22520221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01682865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95691980" name="TextBox 8"/>
          <p:cNvSpPr txBox="1"/>
          <p:nvPr/>
        </p:nvSpPr>
        <p:spPr bwMode="auto">
          <a:xfrm>
            <a:off x="9358416" y="4156678"/>
            <a:ext cx="8234999" cy="82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ES" sz="5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Cierre de Backend e Introducción a Angular</a:t>
            </a:r>
            <a:endParaRPr/>
          </a:p>
        </p:txBody>
      </p:sp>
      <p:sp>
        <p:nvSpPr>
          <p:cNvPr id="946765375" name="TextBox 16"/>
          <p:cNvSpPr txBox="1"/>
          <p:nvPr/>
        </p:nvSpPr>
        <p:spPr bwMode="auto">
          <a:xfrm>
            <a:off x="9340832" y="2773767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1:</a:t>
            </a:r>
            <a:endParaRPr/>
          </a:p>
        </p:txBody>
      </p:sp>
      <p:grpSp>
        <p:nvGrpSpPr>
          <p:cNvPr id="93758389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5097164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 sesión bisagra: Puente entre dos mundos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De la solidez del Backend a la interactividad del Frontend: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cerramos el Módulo 2 blindando la API para producción y encendemos el motor de Angular para crear una UI profesional.</a:t>
            </a:r>
          </a:p>
        </p:txBody>
      </p:sp>
      <p:sp>
        <p:nvSpPr>
          <p:cNvPr id="5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🛡</a:t>
            </a:r>
          </a:p>
        </p:txBody>
      </p:sp>
      <p:sp>
        <p:nvSpPr>
          <p:cNvPr id="5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Aduana de datos</a:t>
            </a:r>
          </a:p>
        </p:txBody>
      </p:sp>
      <p:sp>
        <p:nvSpPr>
          <p:cNvPr id="5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FluentValidation y ProblemDetails: respuestas de error estandarizadas.</a:t>
            </a:r>
          </a:p>
        </p:txBody>
      </p:sp>
      <p:sp>
        <p:nvSpPr>
          <p:cNvPr id="5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🚀</a:t>
            </a:r>
          </a:p>
        </p:txBody>
      </p:sp>
      <p:sp>
        <p:nvSpPr>
          <p:cNvPr id="5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Angular Moderno</a:t>
            </a:r>
          </a:p>
        </p:txBody>
      </p:sp>
      <p:sp>
        <p:nvSpPr>
          <p:cNvPr id="5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Angular CLI 18, Standalone Components y adiós a los viejos NgModules.</a:t>
            </a:r>
          </a:p>
        </p:txBody>
      </p:sp>
      <p:sp>
        <p:nvSpPr>
          <p:cNvPr id="5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🧩</a:t>
            </a:r>
          </a:p>
        </p:txBody>
      </p:sp>
      <p:sp>
        <p:nvSpPr>
          <p:cNvPr id="5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Full Stack real</a:t>
            </a:r>
          </a:p>
        </p:txBody>
      </p:sp>
      <p:sp>
        <p:nvSpPr>
          <p:cNvPr id="5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Mismos modelos de datos en C# y TypeScript conversando por HTTP.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2495916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3955894" name="TextBox 5"/>
          <p:cNvSpPr txBox="1"/>
          <p:nvPr/>
        </p:nvSpPr>
        <p:spPr bwMode="auto">
          <a:xfrm>
            <a:off x="1295400" y="795278"/>
            <a:ext cx="8751602" cy="52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PREGUNTAS…</a:t>
            </a:r>
            <a:endParaRPr/>
          </a:p>
        </p:txBody>
      </p:sp>
      <p:grpSp>
        <p:nvGrpSpPr>
          <p:cNvPr id="1297811220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140021134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884417158" name="CuadroTexto 1"/>
          <p:cNvSpPr txBox="1"/>
          <p:nvPr/>
        </p:nvSpPr>
        <p:spPr bwMode="auto">
          <a:xfrm>
            <a:off x="1524135" y="2738232"/>
            <a:ext cx="15245486" cy="57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s-ES" sz="2600" b="1">
                <a:latin typeface="Roboto"/>
              </a:rPr>
              <a:t>¿Por qué FluentValidation es superior a validar campos con IFs dentro del controlador?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beneficios aporta responder con ProblemDetails (RFC 7807) en lugar de strings sueltos?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son los Standalone Components y por qué reemplazan a los tradicionales NgModules?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¿Cómo se sincronizan los tipos de TypeScript con los DTOs de C# en el backend?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¿Cómo se comunican el template HTML y la clase TypeScript mediante Data Binding?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17057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33220437" name="TextBox 3"/>
          <p:cNvSpPr txBox="1"/>
          <p:nvPr/>
        </p:nvSpPr>
        <p:spPr bwMode="auto">
          <a:xfrm>
            <a:off x="5826929" y="1152525"/>
            <a:ext cx="5560289" cy="58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Conclusiones</a:t>
            </a:r>
            <a:endParaRPr/>
          </a:p>
        </p:txBody>
      </p:sp>
      <p:grpSp>
        <p:nvGrpSpPr>
          <p:cNvPr id="914401435" name="Group 4"/>
          <p:cNvGrpSpPr/>
          <p:nvPr/>
        </p:nvGrpSpPr>
        <p:grpSpPr bwMode="auto">
          <a:xfrm>
            <a:off x="0" y="1"/>
            <a:ext cx="4542912" cy="10287000"/>
            <a:chOff x="0" y="0"/>
            <a:chExt cx="1365125" cy="2989053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365125" cy="2989053"/>
            </a:xfrm>
            <a:custGeom>
              <a:avLst/>
              <a:gdLst/>
              <a:ahLst/>
              <a:cxnLst/>
              <a:rect l="l" t="t" r="r" b="b"/>
              <a:pathLst>
                <a:path w="1365125" h="2989053" fill="norm" stroke="1" extrusionOk="0">
                  <a:moveTo>
                    <a:pt x="0" y="0"/>
                  </a:moveTo>
                  <a:lnTo>
                    <a:pt x="1365125" y="0"/>
                  </a:lnTo>
                  <a:lnTo>
                    <a:pt x="1365125" y="2989053"/>
                  </a:lnTo>
                  <a:lnTo>
                    <a:pt x="0" y="2989053"/>
                  </a:lnTo>
                  <a:close/>
                </a:path>
              </a:pathLst>
            </a:custGeom>
            <a:blipFill rotWithShape="1">
              <a:blip r:embed="rId4"/>
              <a:stretch>
                <a:fillRect l="-144629" t="0" r="-144629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770516098" name="Group 7"/>
          <p:cNvGrpSpPr>
            <a:grpSpLocks noChangeAspect="1"/>
          </p:cNvGrpSpPr>
          <p:nvPr/>
        </p:nvGrpSpPr>
        <p:grpSpPr bwMode="auto">
          <a:xfrm rot="-5400000">
            <a:off x="3450133" y="1216207"/>
            <a:ext cx="2185559" cy="736237"/>
            <a:chOff x="0" y="0"/>
            <a:chExt cx="1231938" cy="414998"/>
          </a:xfrm>
        </p:grpSpPr>
        <p:sp>
          <p:nvSpPr>
            <p:cNvPr id="8" name="Freeform 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39397620" name="Group 11"/>
          <p:cNvGrpSpPr/>
          <p:nvPr/>
        </p:nvGrpSpPr>
        <p:grpSpPr bwMode="auto">
          <a:xfrm>
            <a:off x="215779" y="293877"/>
            <a:ext cx="3796083" cy="1442140"/>
            <a:chOff x="0" y="0"/>
            <a:chExt cx="3731719" cy="1122625"/>
          </a:xfrm>
        </p:grpSpPr>
        <p:sp>
          <p:nvSpPr>
            <p:cNvPr id="12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01" name="tp"/>
          <p:cNvSpPr txBox="1"/>
          <p:nvPr/>
        </p:nvSpPr>
        <p:spPr>
          <a:xfrm>
            <a:off x="5200000" y="2300000"/>
            <a:ext cx="12500000" cy="6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FluentValidation actúa como la aduana de la API: ninguna petición corrupta llega al servicio.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middleware global captura cualquier error no controlado y devuelve un ProblemDetails uniforme.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Angular 18 simplifica radicalmente la arquitectura al usar componentes standalone sin NgModules.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TypeScript nos da tipado estático y autocompletado en el frontend, previniendo errores en tiempo de diseño.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La sesión 7 une ambos mundos: dejamos una API lista para ser consumida y encendemos el frontend.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273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65207640" name="Group 3"/>
          <p:cNvGrpSpPr/>
          <p:nvPr/>
        </p:nvGrpSpPr>
        <p:grpSpPr bwMode="auto">
          <a:xfrm>
            <a:off x="-1" y="-1"/>
            <a:ext cx="18288001" cy="8226262"/>
            <a:chOff x="0" y="0"/>
            <a:chExt cx="5335253" cy="239055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335253" cy="2390552"/>
            </a:xfrm>
            <a:custGeom>
              <a:avLst/>
              <a:gdLst/>
              <a:ahLst/>
              <a:cxnLst/>
              <a:rect l="l" t="t" r="r" b="b"/>
              <a:pathLst>
                <a:path w="5335253" h="2390552" fill="norm" stroke="1" extrusionOk="0">
                  <a:moveTo>
                    <a:pt x="0" y="0"/>
                  </a:moveTo>
                  <a:lnTo>
                    <a:pt x="5335253" y="0"/>
                  </a:lnTo>
                  <a:lnTo>
                    <a:pt x="5335253" y="2390552"/>
                  </a:lnTo>
                  <a:lnTo>
                    <a:pt x="0" y="2390552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12769" r="0" b="-12769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6994680" name="TextBox 5"/>
          <p:cNvSpPr txBox="1"/>
          <p:nvPr/>
        </p:nvSpPr>
        <p:spPr bwMode="auto">
          <a:xfrm>
            <a:off x="4768199" y="4575175"/>
            <a:ext cx="8751602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GRACIAS</a:t>
            </a:r>
            <a:endParaRPr/>
          </a:p>
        </p:txBody>
      </p:sp>
      <p:grpSp>
        <p:nvGrpSpPr>
          <p:cNvPr id="1684371580" name="Group 6"/>
          <p:cNvGrpSpPr>
            <a:grpSpLocks noChangeAspect="1"/>
          </p:cNvGrpSpPr>
          <p:nvPr/>
        </p:nvGrpSpPr>
        <p:grpSpPr bwMode="auto">
          <a:xfrm>
            <a:off x="8051220" y="7858143"/>
            <a:ext cx="2185559" cy="736237"/>
            <a:chOff x="0" y="0"/>
            <a:chExt cx="1231938" cy="414998"/>
          </a:xfrm>
        </p:grpSpPr>
        <p:sp>
          <p:nvSpPr>
            <p:cNvPr id="7" name="Freeform 7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 aduana de datos: ¿Por qué FluentValidation?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Validación declarativa y fuertemente tipada: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separa las reglas de validación de los modelos y controladores, haciendo el código limpio y reusable.</a:t>
            </a:r>
          </a:p>
        </p:txBody>
      </p:sp>
      <p:sp>
        <p:nvSpPr>
          <p:cNvPr id="9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Reglas legibles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RuleFor(x =&gt; x.Motivo).NotEmpty().MaximumLength(200).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Reglas compuestas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Validar colecciones: RuleForEach(x =&gt; x.Detalles).SetValidator(...).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Mensajes claros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Mensajes personalizados por regla para informar al usuario de Angular.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8B3FD9"/>
                </a:solidFill>
              </a:rPr>
              <a:t>Validaciones complejas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Reglas condicionales con When() y validaciones asíncronas con MustAsync().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888888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Filtra la petición antes de que toque cualquier servicio de negocio.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Validador de Solicitud con FluentValidation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CrearSolicitudValidator.cs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CrearSolicitudValidator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AbstractValidator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CrearSolicitudValidator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RuleFor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(x =&gt; x.Motivo).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NotEmpty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WithMessage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"El motivo es obligatorio."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MaximumLength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(200).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WithMessage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"Máximo 200 caracteres."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RuleFor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(x =&gt; x.CentroCostoId).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GreaterThan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(0);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RuleFor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(x =&gt; x.Detalles).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NotEmpty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WithMessage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"Debe incluir al menos un detalle."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RuleForEach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(x =&gt; x.Detalles).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ChildRules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 =&gt;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RuleFor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(x =&gt; x.Concepto).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NotEmpty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RuleFor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(x =&gt; x.Importe).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GreaterThan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(0);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});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Registro en Program.cs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1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ProgramValidation.cs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Registro automático de todos los validadores del ensamblado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builder.Services.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AddValidatorsFromAssemblyContaining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CrearSolicitudValidator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Filtro de validación automático que devuelve 400 Bad Request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builder.Services.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Configure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ApiBehaviorOptions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&gt;(opt =&gt;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opt.InvalidModelStateResponseFactory = context =&gt;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errores = context.ModelState.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ToProblemDetails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BadRequestObjectResult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(errores);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Middleware global de excepciones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GlobalExceptionMiddleware.cs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Captura cualquier error no controlado sin exponer stack traces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GlobalExceptionMiddleware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IMiddleware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InvokeAsync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HttpContext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context,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RequestDelegate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next)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try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next(context);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catch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ReglaDominioException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ex) {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EscribirProblemDetails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(context, 400, ex.Message);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catch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Exception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ex) {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EscribirProblemDetails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(context, 500,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"Error interno del servidor."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estándar RFC 7807: ProblemDetails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3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FFE9D6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F57D30"/>
                </a:solidFill>
                <a:latin typeface="Roboto"/>
              </a:rPr>
              <a:t>Respuestas de error predecibles para el Frontend: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ProblemDetails define un formato universal para reportar errores en APIs HTTP modernas.</a:t>
            </a:r>
          </a:p>
        </p:txBody>
      </p:sp>
      <p:sp>
        <p:nvSpPr>
          <p:cNvPr id="13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📄</a:t>
            </a:r>
          </a:p>
        </p:txBody>
      </p:sp>
      <p:sp>
        <p:nvSpPr>
          <p:cNvPr id="13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type / title</a:t>
            </a:r>
          </a:p>
        </p:txBody>
      </p:sp>
      <p:sp>
        <p:nvSpPr>
          <p:cNvPr id="13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URI descriptiva y título corto legible por humanos (ej. 'Bad Request').</a:t>
            </a:r>
          </a:p>
        </p:txBody>
      </p:sp>
      <p:sp>
        <p:nvSpPr>
          <p:cNvPr id="13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📊</a:t>
            </a:r>
          </a:p>
        </p:txBody>
      </p:sp>
      <p:sp>
        <p:nvSpPr>
          <p:cNvPr id="13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status</a:t>
            </a:r>
          </a:p>
        </p:txBody>
      </p:sp>
      <p:sp>
        <p:nvSpPr>
          <p:cNvPr id="13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Código HTTP numérico concordante (400, 401, 403, 404, 500).</a:t>
            </a:r>
          </a:p>
        </p:txBody>
      </p:sp>
      <p:sp>
        <p:nvSpPr>
          <p:cNvPr id="13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🔍</a:t>
            </a:r>
          </a:p>
        </p:txBody>
      </p:sp>
      <p:sp>
        <p:nvSpPr>
          <p:cNvPr id="13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errors / detail</a:t>
            </a:r>
          </a:p>
        </p:txBody>
      </p:sp>
      <p:sp>
        <p:nvSpPr>
          <p:cNvPr id="13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Diccionario con el campo exacto que falló y la lista de mensajes.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Pruebas de integración automatizadas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4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Confianza antes de construir la UI: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probamos cada endpoint, validación y respuesta de error con una suite de pruebas automatizadas.</a:t>
            </a:r>
          </a:p>
        </p:txBody>
      </p:sp>
      <p:sp>
        <p:nvSpPr>
          <p:cNvPr id="14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🧪</a:t>
            </a:r>
          </a:p>
        </p:txBody>
      </p:sp>
      <p:sp>
        <p:nvSpPr>
          <p:cNvPr id="14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Archivo .http</a:t>
            </a:r>
          </a:p>
        </p:txBody>
      </p:sp>
      <p:sp>
        <p:nvSpPr>
          <p:cNvPr id="14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Pruebas ejecutables directamente desde VS Code o Visual Studio.</a:t>
            </a:r>
          </a:p>
        </p:txBody>
      </p:sp>
      <p:sp>
        <p:nvSpPr>
          <p:cNvPr id="14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📮</a:t>
            </a:r>
          </a:p>
        </p:txBody>
      </p:sp>
      <p:sp>
        <p:nvSpPr>
          <p:cNvPr id="14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Colección Postman</a:t>
            </a:r>
          </a:p>
        </p:txBody>
      </p:sp>
      <p:sp>
        <p:nvSpPr>
          <p:cNvPr id="14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Tests automáticos con pm.test() para validar código 200, 201 y esquemas.</a:t>
            </a:r>
          </a:p>
        </p:txBody>
      </p:sp>
      <p:sp>
        <p:nvSpPr>
          <p:cNvPr id="14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🏁</a:t>
            </a:r>
          </a:p>
        </p:txBody>
      </p:sp>
      <p:sp>
        <p:nvSpPr>
          <p:cNvPr id="14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Entregable M2</a:t>
            </a:r>
          </a:p>
        </p:txBody>
      </p:sp>
      <p:sp>
        <p:nvSpPr>
          <p:cNvPr id="14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El backend queda 100% certificado y listo para ser consumido.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¡Hola Frontend! El ecosistema Angular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Framework empresarial por excelencia: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mantenido por Google, proporciona arquitectura estricta, TypeScript nativo y estabilidad a largo plazo.</a:t>
            </a:r>
          </a:p>
        </p:txBody>
      </p:sp>
      <p:sp>
        <p:nvSpPr>
          <p:cNvPr id="15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🌐</a:t>
            </a:r>
          </a:p>
        </p:txBody>
      </p:sp>
      <p:sp>
        <p:nvSpPr>
          <p:cNvPr id="15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SPA Moderna</a:t>
            </a:r>
          </a:p>
        </p:txBody>
      </p:sp>
      <p:sp>
        <p:nvSpPr>
          <p:cNvPr id="15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Carga una sola vez y actualiza la vista sin recargar el navegador.</a:t>
            </a:r>
          </a:p>
        </p:txBody>
      </p:sp>
      <p:sp>
        <p:nvSpPr>
          <p:cNvPr id="15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🚀</a:t>
            </a:r>
          </a:p>
        </p:txBody>
      </p:sp>
      <p:sp>
        <p:nvSpPr>
          <p:cNvPr id="15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Standalone Architecture</a:t>
            </a:r>
          </a:p>
        </p:txBody>
      </p:sp>
      <p:sp>
        <p:nvSpPr>
          <p:cNvPr id="15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Elimina la complejidad de los NgModules: componentes directos y livianos.</a:t>
            </a:r>
          </a:p>
        </p:txBody>
      </p:sp>
      <p:sp>
        <p:nvSpPr>
          <p:cNvPr id="15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🔧</a:t>
            </a:r>
          </a:p>
        </p:txBody>
      </p:sp>
      <p:sp>
        <p:nvSpPr>
          <p:cNvPr id="15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Angular CLI</a:t>
            </a:r>
          </a:p>
        </p:txBody>
      </p:sp>
      <p:sp>
        <p:nvSpPr>
          <p:cNvPr id="15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Herramienta oficial para crear, servir, probar y empaquetar la app.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Creación del proyecto Frontend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6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terminal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 1) Instalar Angular CLI de forma global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npm install -g @angular/cli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 2) Crear el proyecto con arquitectura Standalone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ng new solicitudes-frontend --routing --style=css --ssr=false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 3) Levantar el servidor de desarrollo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cd solicitudes-frontend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ng serve --open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# La aplicacion queda corriendo en http://localhost:4200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Anatomía de un Standalone Component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7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navbar.component.ts</a:t>
            </a:r>
          </a:p>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import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Component }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from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"@angular/core"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import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CommonModule }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from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"@angular/common"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CDCAA"/>
                </a:solidFill>
                <a:latin typeface="Courier New"/>
              </a:rPr>
              <a:t>@Component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selector: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"app-navbar"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standalone: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true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 </a:t>
            </a:r>
            <a:r>
              <a:rPr lang="es-PE" sz="1600">
                <a:solidFill>
                  <a:srgbClr val="6A9955"/>
                </a:solidFill>
                <a:latin typeface="Courier New"/>
              </a:rPr>
              <a:t>// Sin NgModules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imports: [CommonModule],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templateUrl: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"./navbar.component.html"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,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styleUrl: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"./navbar.component.css"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})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NavbarComponent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titulo 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"Sistema de Solicitudes de Dinero"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TypeScript esencial: Tipado y Seguridad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8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solicitud.model.ts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Tipado estático con interfaces que reflejan los DTOs de C#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export type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=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"Borrador"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|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"Enviada"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|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"EnRevision"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|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"Aprobada"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|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"Rechazada"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| 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"Pagada"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export interface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SolicitudDetalle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id: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number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concepto: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importe: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number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export interface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id: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number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motivo: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montoTotal: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number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estado: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fechaCreacion: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detalles: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SolicitudDetalle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[ ];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Sincronización Backend y Frontend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Un solo lenguaje entre servidores y navegadores: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los DTOs en C# y las Interfaces en TypeScript deben ser un espejo exacto para evitar errores en tiempo de ejecución.</a:t>
            </a:r>
          </a:p>
        </p:txBody>
      </p:sp>
      <p:sp>
        <p:nvSpPr>
          <p:cNvPr id="19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💻</a:t>
            </a:r>
          </a:p>
        </p:txBody>
      </p:sp>
      <p:sp>
        <p:nvSpPr>
          <p:cNvPr id="19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C# Backend</a:t>
            </a:r>
          </a:p>
        </p:txBody>
      </p:sp>
      <p:sp>
        <p:nvSpPr>
          <p:cNvPr id="19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public record SolicitudDto(int Id, string Motivo, decimal MontoTotal...);</a:t>
            </a:r>
          </a:p>
        </p:txBody>
      </p:sp>
      <p:sp>
        <p:nvSpPr>
          <p:cNvPr id="19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🐦</a:t>
            </a:r>
          </a:p>
        </p:txBody>
      </p:sp>
      <p:sp>
        <p:nvSpPr>
          <p:cNvPr id="19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JSON HTTP</a:t>
            </a:r>
          </a:p>
        </p:txBody>
      </p:sp>
      <p:sp>
        <p:nvSpPr>
          <p:cNvPr id="19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camelCase automático de ASP.NET Core: id, motivo, montoTotal.</a:t>
            </a:r>
          </a:p>
        </p:txBody>
      </p:sp>
      <p:sp>
        <p:nvSpPr>
          <p:cNvPr id="19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🎨</a:t>
            </a:r>
          </a:p>
        </p:txBody>
      </p:sp>
      <p:sp>
        <p:nvSpPr>
          <p:cNvPr id="19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TS Frontend</a:t>
            </a:r>
          </a:p>
        </p:txBody>
      </p:sp>
      <p:sp>
        <p:nvSpPr>
          <p:cNvPr id="19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export interface Solicitud { id: number; motivo: string; montoTotal: number; };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 Binding: Enlace de datos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data-binding.html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&lt;!-- 1) Interpolación: mostrar texto en HTML --&gt;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&lt;h2&gt;{{ solicitud.motivo }}&lt;/h2&gt;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&lt;!-- 2) Property Binding: enlazar atributos con corchetes [ ] --&gt;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&lt;button [disabled]="solicitud.estado !== \'Borrador\'"&gt;Editar&lt;/button&gt;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&lt;!-- 3) Event Binding: capturar clicks con parentesis ( ) --&gt;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&lt;button (click)="enviarSolicitud(solicitud.id)"&gt;Enviar&lt;/button&gt;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&lt;!-- 4) Two-Way Binding: sincronización bidireccional [(ngModel)] --&gt;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&lt;input [(ngModel)]="motivoBusqueda" placeholder="Buscar motivo..."&gt;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Primer componente funcional: Card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1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solicitud-card.html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&lt;!-- solicitud-card.component.html --&gt;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&lt;div class="card-solicitud"&gt;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&lt;div class="header"&gt;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&lt;span class="badge"&gt;{{ solicitud.estado }}&lt;/span&gt;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&lt;strong&gt;#{{ solicitud.id }}&lt;/strong&gt;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&lt;/div&gt;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&lt;p class="motivo"&gt;{{ solicitud.motivo }}&lt;/p&gt;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&lt;div class="footer"&gt;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&lt;span class="monto"&gt;{{ solicitud.montoTotal | currency:\'PEN\':\'symbol\' }}&lt;/span&gt;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&lt;button (click)="verDetalle.emit(solicitud.id)"&gt;Ver Detalle&lt;/button&gt;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&lt;/div&gt;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&lt;/div&gt;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Estilos encapsulados en CSS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solicitud-card.css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/* Los estilos de un componente no contaminan al resto de la app */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.card-solicitud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background: #ffffff; border: 1px solid #e0e0e0;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border-radius: 8px; padding: 16px; margin-bottom: 12px;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box-shadow: 0 2px 4px rgba(0,0,0,0.05);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.badge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background: #dceefb; color: #024b98;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padding: 4px 8px; border-radius: 4px; font-weight: bold;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.monto { font-size: 1.2rem; font-weight: bold; color: #2ea84f;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flujo completo de la petición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301" name="r"/>
          <p:cNvSpPr/>
          <p:nvPr/>
        </p:nvSpPr>
        <p:spPr>
          <a:xfrm>
            <a:off x="1300000" y="3050000"/>
            <a:ext cx="15700000" cy="6000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 w="0">
            <a:solidFill>
              <a:srgbClr val="333333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2" name="e"/>
          <p:cNvSpPr/>
          <p:nvPr/>
        </p:nvSpPr>
        <p:spPr>
          <a:xfrm>
            <a:off x="2200000" y="2900000"/>
            <a:ext cx="360000" cy="360000"/>
          </a:xfrm>
          <a:prstGeom prst="ellipse">
            <a:avLst/>
          </a:prstGeom>
          <a:solidFill>
            <a:srgbClr val="1F6FEB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031" name="r"/>
          <p:cNvSpPr/>
          <p:nvPr/>
        </p:nvSpPr>
        <p:spPr>
          <a:xfrm>
            <a:off x="13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 w="0">
            <a:solidFill>
              <a:srgbClr val="1F6FE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32" name="r"/>
          <p:cNvSpPr/>
          <p:nvPr/>
        </p:nvSpPr>
        <p:spPr>
          <a:xfrm>
            <a:off x="13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33" name="t"/>
          <p:cNvSpPr txBox="1"/>
          <p:nvPr/>
        </p:nvSpPr>
        <p:spPr>
          <a:xfrm>
            <a:off x="15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Usuario en Angular</a:t>
            </a:r>
          </a:p>
        </p:txBody>
      </p:sp>
      <p:sp>
        <p:nvSpPr>
          <p:cNvPr id="23034" name="tp"/>
          <p:cNvSpPr txBox="1"/>
          <p:nvPr/>
        </p:nvSpPr>
        <p:spPr>
          <a:xfrm>
            <a:off x="14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Llena el formulario en la UI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componente valida en local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Dispara petición HTTP POST</a:t>
            </a:r>
          </a:p>
        </p:txBody>
      </p:sp>
      <p:sp>
        <p:nvSpPr>
          <p:cNvPr id="2304" name="e"/>
          <p:cNvSpPr/>
          <p:nvPr/>
        </p:nvSpPr>
        <p:spPr>
          <a:xfrm>
            <a:off x="7500000" y="2900000"/>
            <a:ext cx="360000" cy="360000"/>
          </a:xfrm>
          <a:prstGeom prst="ellipse">
            <a:avLst/>
          </a:prstGeom>
          <a:solidFill>
            <a:srgbClr val="2EA84F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051" name="r"/>
          <p:cNvSpPr/>
          <p:nvPr/>
        </p:nvSpPr>
        <p:spPr>
          <a:xfrm>
            <a:off x="66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 w="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52" name="r"/>
          <p:cNvSpPr/>
          <p:nvPr/>
        </p:nvSpPr>
        <p:spPr>
          <a:xfrm>
            <a:off x="66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53" name="t"/>
          <p:cNvSpPr txBox="1"/>
          <p:nvPr/>
        </p:nvSpPr>
        <p:spPr>
          <a:xfrm>
            <a:off x="68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Aduana ASP.NET Core</a:t>
            </a:r>
          </a:p>
        </p:txBody>
      </p:sp>
      <p:sp>
        <p:nvSpPr>
          <p:cNvPr id="23054" name="tp"/>
          <p:cNvSpPr txBox="1"/>
          <p:nvPr/>
        </p:nvSpPr>
        <p:spPr>
          <a:xfrm>
            <a:off x="67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Middleware captura la llamada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FluentValidation audita datos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Devuelve ProblemDetails si falla</a:t>
            </a:r>
          </a:p>
        </p:txBody>
      </p:sp>
      <p:sp>
        <p:nvSpPr>
          <p:cNvPr id="2306" name="e"/>
          <p:cNvSpPr/>
          <p:nvPr/>
        </p:nvSpPr>
        <p:spPr>
          <a:xfrm>
            <a:off x="12800000" y="2900000"/>
            <a:ext cx="360000" cy="360000"/>
          </a:xfrm>
          <a:prstGeom prst="ellipse">
            <a:avLst/>
          </a:prstGeom>
          <a:solidFill>
            <a:srgbClr val="F57D30"/>
          </a:solidFill>
        </p:spPr>
        <p:txBody>
          <a:bodyPr anchor="ctr"/>
          <a:lstStyle/>
          <a:p>
            <a:pPr algn="ctr"/>
            <a:r>
              <a:rPr lang="es-PE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071" name="r"/>
          <p:cNvSpPr/>
          <p:nvPr/>
        </p:nvSpPr>
        <p:spPr>
          <a:xfrm>
            <a:off x="11900000" y="4000000"/>
            <a:ext cx="5000000" cy="60000"/>
          </a:xfrm>
          <a:prstGeom prst="roundRect">
            <a:avLst>
              <a:gd name="adj" fmla="val 5000"/>
            </a:avLst>
          </a:prstGeom>
          <a:solidFill>
            <a:srgbClr val="F57D30"/>
          </a:solidFill>
          <a:ln w="0">
            <a:solidFill>
              <a:srgbClr val="F57D30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72" name="r"/>
          <p:cNvSpPr/>
          <p:nvPr/>
        </p:nvSpPr>
        <p:spPr>
          <a:xfrm>
            <a:off x="11900000" y="4060000"/>
            <a:ext cx="5000000" cy="4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3073" name="t"/>
          <p:cNvSpPr txBox="1"/>
          <p:nvPr/>
        </p:nvSpPr>
        <p:spPr>
          <a:xfrm>
            <a:off x="12100000" y="4250000"/>
            <a:ext cx="46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Persistencia y Retorno</a:t>
            </a:r>
          </a:p>
        </p:txBody>
      </p:sp>
      <p:sp>
        <p:nvSpPr>
          <p:cNvPr id="23074" name="tp"/>
          <p:cNvSpPr txBox="1"/>
          <p:nvPr/>
        </p:nvSpPr>
        <p:spPr>
          <a:xfrm>
            <a:off x="12050000" y="4900000"/>
            <a:ext cx="4700000" cy="38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EF Core guarda en BD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Devuelve 201 Created con DTO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Angular actualiza la tarjeta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Checklist de transición Backend-Frontend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4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Cerrando el backend con broche de oro: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antes de sumergirse de lleno en la UI de Angular, certifiquemos la entrega de la API.</a:t>
            </a:r>
          </a:p>
        </p:txBody>
      </p:sp>
      <p:sp>
        <p:nvSpPr>
          <p:cNvPr id="24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🛡</a:t>
            </a:r>
          </a:p>
        </p:txBody>
      </p:sp>
      <p:sp>
        <p:nvSpPr>
          <p:cNvPr id="24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FluentValidation</a:t>
            </a:r>
          </a:p>
        </p:txBody>
      </p:sp>
      <p:sp>
        <p:nvSpPr>
          <p:cNvPr id="24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Todas las peticiones entrantes validadas con mensajes en español.</a:t>
            </a:r>
          </a:p>
        </p:txBody>
      </p:sp>
      <p:sp>
        <p:nvSpPr>
          <p:cNvPr id="24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🚨</a:t>
            </a:r>
          </a:p>
        </p:txBody>
      </p:sp>
      <p:sp>
        <p:nvSpPr>
          <p:cNvPr id="24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ProblemDetails</a:t>
            </a:r>
          </a:p>
        </p:txBody>
      </p:sp>
      <p:sp>
        <p:nvSpPr>
          <p:cNvPr id="24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Manejo global de excepciones sin fugas de stack trace.</a:t>
            </a:r>
          </a:p>
        </p:txBody>
      </p:sp>
      <p:sp>
        <p:nvSpPr>
          <p:cNvPr id="24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🌐</a:t>
            </a:r>
          </a:p>
        </p:txBody>
      </p:sp>
      <p:sp>
        <p:nvSpPr>
          <p:cNvPr id="24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Angular 18 Listo</a:t>
            </a:r>
          </a:p>
        </p:txBody>
      </p:sp>
      <p:sp>
        <p:nvSpPr>
          <p:cNvPr id="24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ng serve levantado y primer componente renderizando datos.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Errores comunes en validación y Angular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501" name="r"/>
          <p:cNvSpPr/>
          <p:nvPr/>
        </p:nvSpPr>
        <p:spPr>
          <a:xfrm>
            <a:off x="13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4B4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502" name="t"/>
          <p:cNvSpPr txBox="1"/>
          <p:nvPr/>
        </p:nvSpPr>
        <p:spPr>
          <a:xfrm>
            <a:off x="15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D14B4B"/>
                </a:solidFill>
                <a:latin typeface="Roboto"/>
              </a:rPr>
              <a:t>Evita esto</a:t>
            </a:r>
          </a:p>
        </p:txBody>
      </p:sp>
      <p:sp>
        <p:nvSpPr>
          <p:cNvPr id="2503" name="tp"/>
          <p:cNvSpPr txBox="1"/>
          <p:nvPr/>
        </p:nvSpPr>
        <p:spPr>
          <a:xfrm>
            <a:off x="14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Validar datos con IFs anidados en cada controlador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Devolver excepciones en texto plano o HTML al frontend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Usar módulos @NgModule en proyectos nuevos de Angular 18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Usar el tipo 'any' indiscriminadamente en TypeScript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Mutar el DOM directamente con document.getElementById</a:t>
            </a:r>
          </a:p>
        </p:txBody>
      </p:sp>
      <p:sp>
        <p:nvSpPr>
          <p:cNvPr id="2504" name="t"/>
          <p:cNvSpPr txBox="1"/>
          <p:nvPr/>
        </p:nvSpPr>
        <p:spPr>
          <a:xfrm>
            <a:off x="8550000" y="4600000"/>
            <a:ext cx="1200000" cy="1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4000" b="1">
                <a:solidFill>
                  <a:srgbClr val="888888"/>
                </a:solidFill>
                <a:latin typeface="Roboto"/>
              </a:rPr>
              <a:t>➞</a:t>
            </a:r>
          </a:p>
        </p:txBody>
      </p:sp>
      <p:sp>
        <p:nvSpPr>
          <p:cNvPr id="2505" name="r"/>
          <p:cNvSpPr/>
          <p:nvPr/>
        </p:nvSpPr>
        <p:spPr>
          <a:xfrm>
            <a:off x="99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EAF8E6"/>
          </a:solidFill>
          <a:ln w="1905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506" name="t"/>
          <p:cNvSpPr txBox="1"/>
          <p:nvPr/>
        </p:nvSpPr>
        <p:spPr>
          <a:xfrm>
            <a:off x="101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2EA84F"/>
                </a:solidFill>
                <a:latin typeface="Roboto"/>
              </a:rPr>
              <a:t>Haz esto</a:t>
            </a:r>
          </a:p>
        </p:txBody>
      </p:sp>
      <p:sp>
        <p:nvSpPr>
          <p:cNvPr id="2507" name="tp"/>
          <p:cNvSpPr txBox="1"/>
          <p:nvPr/>
        </p:nvSpPr>
        <p:spPr>
          <a:xfrm>
            <a:off x="100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Centralizar reglas con clases AbstractValidator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Estandarizar errores con RFC 7807 ProblemDetails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Construir aplicaciones con Standalone Components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Declarar interfaces estrictas para cada modelo de datos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Dejar que Angular gestione el DOM con Data Binding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Buenas prácticas de desarrollo Full Stack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6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Consistencia en ambos lados del stack: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la disciplina en el Backend facilita el trabajo en el Frontend y reduce el tiempo de desarrollo a la mitad.</a:t>
            </a:r>
          </a:p>
        </p:txBody>
      </p:sp>
      <p:sp>
        <p:nvSpPr>
          <p:cNvPr id="26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Mantén los nombres de propiedades en camelCase para el JSON de la API.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Nunca confíes en los datos del frontend: valida siempre en el servidor.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Crea interfaces TypeScript idénticas a los DTOs de C#.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Divide la interfaz de Angular en componentes pequeños y reusables.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Documenta cada endpoint con Swagger para agilizar la integración.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Resumen de la sesión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711" name="e"/>
          <p:cNvSpPr/>
          <p:nvPr/>
        </p:nvSpPr>
        <p:spPr>
          <a:xfrm>
            <a:off x="3000000" y="270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🛡</a:t>
            </a:r>
          </a:p>
        </p:txBody>
      </p:sp>
      <p:sp>
        <p:nvSpPr>
          <p:cNvPr id="2712" name="t"/>
          <p:cNvSpPr txBox="1"/>
          <p:nvPr/>
        </p:nvSpPr>
        <p:spPr>
          <a:xfrm>
            <a:off x="1100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Validación</a:t>
            </a:r>
          </a:p>
        </p:txBody>
      </p:sp>
      <p:sp>
        <p:nvSpPr>
          <p:cNvPr id="2713" name="t"/>
          <p:cNvSpPr txBox="1"/>
          <p:nvPr/>
        </p:nvSpPr>
        <p:spPr>
          <a:xfrm>
            <a:off x="1100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FluentValidation como aduana de entrada.</a:t>
            </a:r>
          </a:p>
        </p:txBody>
      </p:sp>
      <p:sp>
        <p:nvSpPr>
          <p:cNvPr id="2721" name="e"/>
          <p:cNvSpPr/>
          <p:nvPr/>
        </p:nvSpPr>
        <p:spPr>
          <a:xfrm>
            <a:off x="8644000" y="270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🔄</a:t>
            </a:r>
          </a:p>
        </p:txBody>
      </p:sp>
      <p:sp>
        <p:nvSpPr>
          <p:cNvPr id="2722" name="t"/>
          <p:cNvSpPr txBox="1"/>
          <p:nvPr/>
        </p:nvSpPr>
        <p:spPr>
          <a:xfrm>
            <a:off x="6744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Middleware</a:t>
            </a:r>
          </a:p>
        </p:txBody>
      </p:sp>
      <p:sp>
        <p:nvSpPr>
          <p:cNvPr id="2723" name="t"/>
          <p:cNvSpPr txBox="1"/>
          <p:nvPr/>
        </p:nvSpPr>
        <p:spPr>
          <a:xfrm>
            <a:off x="6744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ProblemDetails captura excepciones sin fugas.</a:t>
            </a:r>
          </a:p>
        </p:txBody>
      </p:sp>
      <p:sp>
        <p:nvSpPr>
          <p:cNvPr id="2731" name="e"/>
          <p:cNvSpPr/>
          <p:nvPr/>
        </p:nvSpPr>
        <p:spPr>
          <a:xfrm>
            <a:off x="14288000" y="2700000"/>
            <a:ext cx="1000000" cy="1000000"/>
          </a:xfrm>
          <a:prstGeom prst="ellipse">
            <a:avLst/>
          </a:prstGeom>
          <a:solidFill>
            <a:srgbClr val="ECD9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🧪</a:t>
            </a:r>
          </a:p>
        </p:txBody>
      </p:sp>
      <p:sp>
        <p:nvSpPr>
          <p:cNvPr id="2732" name="t"/>
          <p:cNvSpPr txBox="1"/>
          <p:nvPr/>
        </p:nvSpPr>
        <p:spPr>
          <a:xfrm>
            <a:off x="12388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8B3FD9"/>
                </a:solidFill>
                <a:latin typeface="Roboto"/>
              </a:rPr>
              <a:t>Postman / .http</a:t>
            </a:r>
          </a:p>
        </p:txBody>
      </p:sp>
      <p:sp>
        <p:nvSpPr>
          <p:cNvPr id="2733" name="t"/>
          <p:cNvSpPr txBox="1"/>
          <p:nvPr/>
        </p:nvSpPr>
        <p:spPr>
          <a:xfrm>
            <a:off x="12388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Backend certificado con tests automáticos.</a:t>
            </a:r>
          </a:p>
        </p:txBody>
      </p:sp>
      <p:sp>
        <p:nvSpPr>
          <p:cNvPr id="2741" name="e"/>
          <p:cNvSpPr/>
          <p:nvPr/>
        </p:nvSpPr>
        <p:spPr>
          <a:xfrm>
            <a:off x="3000000" y="620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🌐</a:t>
            </a:r>
          </a:p>
        </p:txBody>
      </p:sp>
      <p:sp>
        <p:nvSpPr>
          <p:cNvPr id="2742" name="t"/>
          <p:cNvSpPr txBox="1"/>
          <p:nvPr/>
        </p:nvSpPr>
        <p:spPr>
          <a:xfrm>
            <a:off x="1100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Angular 18</a:t>
            </a:r>
          </a:p>
        </p:txBody>
      </p:sp>
      <p:sp>
        <p:nvSpPr>
          <p:cNvPr id="2743" name="t"/>
          <p:cNvSpPr txBox="1"/>
          <p:nvPr/>
        </p:nvSpPr>
        <p:spPr>
          <a:xfrm>
            <a:off x="1100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Standalone Components y adiós NgModules.</a:t>
            </a:r>
          </a:p>
        </p:txBody>
      </p:sp>
      <p:sp>
        <p:nvSpPr>
          <p:cNvPr id="2751" name="e"/>
          <p:cNvSpPr/>
          <p:nvPr/>
        </p:nvSpPr>
        <p:spPr>
          <a:xfrm>
            <a:off x="8644000" y="6200000"/>
            <a:ext cx="1000000" cy="1000000"/>
          </a:xfrm>
          <a:prstGeom prst="ellipse">
            <a:avLst/>
          </a:prstGeom>
          <a:solidFill>
            <a:srgbClr val="CCF2EA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🔧</a:t>
            </a:r>
          </a:p>
        </p:txBody>
      </p:sp>
      <p:sp>
        <p:nvSpPr>
          <p:cNvPr id="2752" name="t"/>
          <p:cNvSpPr txBox="1"/>
          <p:nvPr/>
        </p:nvSpPr>
        <p:spPr>
          <a:xfrm>
            <a:off x="6744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AA39A"/>
                </a:solidFill>
                <a:latin typeface="Roboto"/>
              </a:rPr>
              <a:t>TypeScript</a:t>
            </a:r>
          </a:p>
        </p:txBody>
      </p:sp>
      <p:sp>
        <p:nvSpPr>
          <p:cNvPr id="2753" name="t"/>
          <p:cNvSpPr txBox="1"/>
          <p:nvPr/>
        </p:nvSpPr>
        <p:spPr>
          <a:xfrm>
            <a:off x="6744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Interfaces que reflejan exactamente los DTOs.</a:t>
            </a:r>
          </a:p>
        </p:txBody>
      </p:sp>
      <p:sp>
        <p:nvSpPr>
          <p:cNvPr id="2761" name="e"/>
          <p:cNvSpPr/>
          <p:nvPr/>
        </p:nvSpPr>
        <p:spPr>
          <a:xfrm>
            <a:off x="14288000" y="6200000"/>
            <a:ext cx="1000000" cy="1000000"/>
          </a:xfrm>
          <a:prstGeom prst="ellipse">
            <a:avLst/>
          </a:prstGeom>
          <a:solidFill>
            <a:srgbClr val="FFD6D6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🔗</a:t>
            </a:r>
          </a:p>
        </p:txBody>
      </p:sp>
      <p:sp>
        <p:nvSpPr>
          <p:cNvPr id="2762" name="t"/>
          <p:cNvSpPr txBox="1"/>
          <p:nvPr/>
        </p:nvSpPr>
        <p:spPr>
          <a:xfrm>
            <a:off x="12388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D14B4B"/>
                </a:solidFill>
                <a:latin typeface="Roboto"/>
              </a:rPr>
              <a:t>Binding</a:t>
            </a:r>
          </a:p>
        </p:txBody>
      </p:sp>
      <p:sp>
        <p:nvSpPr>
          <p:cNvPr id="2763" name="t"/>
          <p:cNvSpPr txBox="1"/>
          <p:nvPr/>
        </p:nvSpPr>
        <p:spPr>
          <a:xfrm>
            <a:off x="12388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Interpolación, properties y eventos reactivos.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71290CC759522429B105456B3C74D4E" ma:contentTypeVersion="18" ma:contentTypeDescription="Crear nuevo documento." ma:contentTypeScope="" ma:versionID="b16921caaa352d6c6b40a35a64dd15dd">
  <xsd:schema xmlns:xsd="http://www.w3.org/2001/XMLSchema" xmlns:xs="http://www.w3.org/2001/XMLSchema" xmlns:p="http://schemas.microsoft.com/office/2006/metadata/properties" xmlns:ns2="b45a8c2e-09b1-4064-bb7e-0e2948b15800" xmlns:ns3="f893cdd1-18a6-49f9-8410-ff8a75fa096f" targetNamespace="http://schemas.microsoft.com/office/2006/metadata/properties" ma:root="true" ma:fieldsID="cc2b95a57930b236afc96f125766a762" ns2:_="" ns3:_="">
    <xsd:import namespace="b45a8c2e-09b1-4064-bb7e-0e2948b15800"/>
    <xsd:import namespace="f893cdd1-18a6-49f9-8410-ff8a75fa09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a8c2e-09b1-4064-bb7e-0e2948b158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ac0ade2b-fa97-451f-b1a9-747194817b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3cdd1-18a6-49f9-8410-ff8a75fa0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5c9644d-ae6b-4749-accb-1586901e3ac7}" ma:internalName="TaxCatchAll" ma:showField="CatchAllData" ma:web="f893cdd1-18a6-49f9-8410-ff8a75fa09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93cdd1-18a6-49f9-8410-ff8a75fa096f" xsi:nil="true"/>
    <lcf76f155ced4ddcb4097134ff3c332f xmlns="b45a8c2e-09b1-4064-bb7e-0e2948b158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DDEF5603-70E4-4BC1-A1F1-931CCD42AE99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a8c2e-09b1-4064-bb7e-0e2948b15800"/>
    <ds:schemaRef ds:uri="f893cdd1-18a6-49f9-8410-ff8a75fa0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FFAB2F5F-24C6-4839-9804-B0AC03D21AC2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835F4B21-4188-47AC-8D98-85563D194352">
  <ds:schemaRefs>
    <ds:schemaRef ds:uri="http://schemas.microsoft.com/office/2006/metadata/properties"/>
    <ds:schemaRef ds:uri="http://schemas.microsoft.com/office/infopath/2007/PartnerControls"/>
    <ds:schemaRef ds:uri="f893cdd1-18a6-49f9-8410-ff8a75fa096f"/>
    <ds:schemaRef ds:uri="b45a8c2e-09b1-4064-bb7e-0e2948b15800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Proyecto Arquitectónico Minimalista Blanco y Negro</dc:title>
  <dc:creator>Enrique Huaman</dc:creator>
  <dc:identifier>DAGwiwYUdeU</dc:identifier>
  <cp:lastModifiedBy/>
  <cp:revision>59</cp:revision>
  <dcterms:created xsi:type="dcterms:W3CDTF">2006-08-16T00:00:00Z</dcterms:created>
  <dcterms:modified xsi:type="dcterms:W3CDTF">2026-05-24T07:38:20Z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0x010100171290CC759522429B105456B3C74D4E</vt:lpwstr>
  </property>
</Properties>
</file>